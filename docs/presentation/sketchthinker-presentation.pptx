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 will present SketchThinker-R1, by Ruiyang Zhang, Dongzhan Zhou, and Zhedong Zheng, from the University of Macau and Shanghai AI Laboratory. This is an ICLR 2026 poster. The central question is how to shorten multimodal reasoning while preserving answer accuracy. I will explain the training pipeline, examine the results and their boundaries, then pitch our research plan on preserving visual evidence. The editable table records our group members and their contributions before we begin the main technical paper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Multimodal reasoning models often explain every intermediate step in full sentences. That creates a practical bottleneck: generating more reasoning tokens increases decoding work and response time for a single answer. The authors' starting point is that detailed explanation contains redundancy. Their bet is that a compact sketch can retain the key logical flow while removing repeated descriptions and commentary. Here, sketch means concise textual reasoning, organized into short numbered steps. It does not mean drawing a new image. The example from the paper connects visual relationships to a short mathematical derivation. The challenge is to learn which information deserves space, because simply asking for fewer words also removes useful reasoning.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 has three stages with different jobs. First, Sketch-Mode Cold Start teaches the answering model to imitate compressed reasoning traces. Second, a separate SketchJudge Reward Model learns to distinguish sketch-style thinking from normal detailed thinking. Third, Sketch-Thinking Reinforcement Learning uses that judge alongside correctness and format rewards. This division matters. Cold start supplies examples of the target behavior, the judge makes that behavior scoreable, and reinforcement learning trains the model to apply it on another collection of questions across visual domains. The answering model receives images and questions throughout. The judge receives the thinking text. The original pipeline appears below our simplified redraw so the relationship between the presentation and the source stays visible.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cold start, the authors construct SketchColdStart-20K. They sample ten thousand questions from LLaVA-CoT-100K and ten thousand from Vision-R1-cold. GPT-5 rewrites the existing long reasoning into short numbered steps. The conversion instructions preserve the order and key logic while removing extra details and examples. The resulting image, question, sketch, and answer examples supervise the multimodal backbone through ordinary next-token training. The default answering backbone is Qwen2.5-VL-7B-Instruct, with a separate three billion parameter version also evaluated. This stage changes both the amount of text and its wording. Therefore, its benefits combine compression with teacher rewriting. The converter ablation tests different teachers, but does not isolate shortening from all other changes to the reasoning content. That distinction matters when we design the later controlled comparison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SketchJudge is a language model rather than the multimodal answering model. The default judge uses Qwen2.5-7B-Instruct. Training pairs each original long trace with label zero and its rewritten sketch with label one, producing forty thousand labeled traces. At reinforcement learning time, the same judge classifies the generated thinking text. Its prompt asks whether the reasoning contains only the key logical flow or detailed analysis. It receives neither the image nor the question. This directly supervises style, while answer accuracy is checked separately. The design also avoids a fixed target length, allowing longer sketches for demanding questions. Its central boundary is equally clear: a positive style label does not verify that a visual premise is correct or explicitly retained under the tested language-only scoring prompt.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reinforcement learning stage uses GRPO, which compares sampled responses to the same question. The paper samples five rollouts per group. Each response receives a weighted reward: zero point five for accuracy, zero point four for format, and zero point one for thinking style. The style component is binary. For a worked example, a correct answer with valid format and sketch style receives one point. If the answer is wrong but format and style pass, it receives zero point five. These are arithmetic examples of the stated reward, not experimental observations. Group rewards are centered and scaled to obtain relative advantages. A clipped policy update favors higher advantage responses, while a KL penalty limits departure from the reference policy. There is no explicit token penalty in this default objective; shorter traces emerge from style supervision during each sampled training group.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evaluation spans four benchmarks: MMMU for broad multimodal reasoning, MATH-Vision for visual mathematics, VisuLogic for visual logic, and PhyX for physics. The paper labels MATH-Vision as MathVision in its tables. Training for reinforcement learning uses SketchRL-1K, with two hundred fifty questions from each of MMStar, MathVista, LogicVista, and SeePhys. Baselines cover direct R1-style training, prompting, supervised fine tuning, and length-oriented reinforcement learning. The reported metrics are final answer accuracy and average reasoning tokens. Efficiency of Thinking divides accuracy, expressed in percentage points, by reasoning tokens. I will keep accuracy and cost visible separately, because an efficiency ratio alone hides whether a shorter model also loses correct answers rather than a single combined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one provides the strongest evidence for the headline. At seven billion parameters, MMMU accuracy rises from sixty one to sixty two point eight percent, while average reasoning tokens fall from one hundred eighty two point two to sixty four point three. Across the four benchmarks, token reductions range from sixty four point seven to seventy six point five percent, calculated directly from the reported means. Accuracy also increases in every benchmark, although the margins differ. VisuLogic gains only zero point two percentage points, whereas PhyX gains one point nine. The chart shows token savings, and the adjacent table preserves the accuracy comparison. These are reported point estimates. The paper does not provide confidence intervals for these main results, so the smallest gains do not establish a reliable advantage across multiple independent repeated training runs.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places every method from the MMMU section of Table one on the same axes. Moving left reduces reasoning tokens; moving up improves accuracy. SketchThinker-R1 occupies the upper left relative to all listed baselines. Prompting methods shorten the output, but their accuracy falls below Vanilla-R1. The supervised and length-oriented reinforcement learning baselines lie between those extremes. For this dataset and backbone, the complete sketch pipeline improves both measured objectives. This is a comparison among the reported operating points, not a complete frontier over all possible budgets. The table does not establish the best achievable accuracy for every baseline after an identical sweep of decoding settings, reward weights, and training compute and other relevant choices.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 ablation explains why the authors combine imitation and reinforcement learning. On MMMU, cold start alone reaches sixty one point four percent accuracy with one hundred fourteen point five reasoning tokens. Reinforcement learning alone reaches sixty two point one percent with one hundred fifty two point two tokens. Combining both reaches sixty two point eight percent with sixty four point three tokens. That supports complementary contributions from the two stages under the tested setup. The judge ablation also favors a fine tuned seven billion parameter judge over the corresponding model used without fine tuning. However, these experiments do not isolate a unique causal mechanism inside the traces. Different converters also change final accuracy, so teacher quality and rewritten content remain part of the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smaller model prevents us from turning the headline into a universal claim. Table two reports strong token savings at three billion parameters, but MATH-Vision accuracy falls from twenty six point nine percent for Vanilla-R1 to twenty five point three for SketchThinker-R1. That is a loss of one point six percentage points. MMMU, VisuLogic, and PhyX show positive accuracy differences. The correct reading is that compression and answer quality trade differently across tasks and model sizes. This single comparison does not identify deleted visual evidence as the cause. It motivates checking what information survives compression and evaluating harder problems separately. For our own study, accuracy and explicit explanation sufficiency will remain distinct measurements, across the full range of token budgets, even when both improve together.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appendix adds useful qualifications and extensions. On MMMU, dynamic reward weighting improves on the fixed default, reaching sixty three point two percent accuracy with sixty two point five reasoning tokens. Therefore, a fixed style coefficient is a design choice rather than a demonstrated optimum across schedules. Scaling the reinforcement learning set from one thousand to five thousand examples raises the seven billion parameter model's MMMU accuracy from sixty two point eight to sixty six point one percent. The reported training time decreases from two point seven zero hours for Vanilla-R1 to two point two one hours for SketchThinker-R1 on eight H800 GPUs under that configuration. Finally, human interpretability scores improve, but that study uses only twenty jointly correct examples and five evaluators. Readability evidence is valuable; it does not independently verify complete visual support.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assessment is that the paper establishes a practical training recipe for shorter multimodal reasoning, with especially strong token savings in its seven billion parameter comparisons. The evidence boundary has three parts. First, style supervision does not directly inspect visual grounding. Second, reported point estimates and limited human studies leave uncertainty about small gains and difficult subgroups. Third, reproduction requires resolving reporting inconsistencies, including different rollout batch sizes in the main text and appendix. The cold-start quality checks assess preservation of key steps, but they do not measure necessary visual premises in generated benchmark traces. That unresolved measurement problem leads to our research plan: evaluate whether compressed explanations explicitly preserve the evidence supporting their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plan is titled Preserving Visual Evidence in Compressed Multimodal Reasoning. The question is whether image-conditioned sufficiency supervision improves the accuracy and length tradeoff beyond style supervision. We define a sufficient trace as an explicit set of correct visual premises and valid deductions supporting its returned answer. Consider a triangle whose two given angles appear only in the image. A calculation that silently imports those readings leaves its premises unstated. A compact trace that explicitly states the angle readings and then applies the triangle sum supplies independently checkable support. We accept validated alternative derivations and allow redundant statements to disappear. This targets explanation sufficiency, not a claim about the model's hidden causal reasoning. We will test visual omission, reward effectiveness, and whether any advantage survives controls for rewriting and compute.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planned experiment uses one seven billion parameter answering model and a separate image-conditioned judge. Three reward arms share the same rewritten examples and cold-start weights: evidence reward, style reward, and a zero auxiliary component. Evidence and style are binary and carry the same coefficient. We plan twenty four hundred rendered geometry and bar-chart problems, split by template family, plus checked answer-changing and nuisance-edit image pairs. The judge learns from supported traces, missing-premise negatives, wrong readings, and invalid deductions. We will compare answer accuracy, necessary-premise retention, human sufficiency, and paired-image correctness. Operating points must match achieved average reasoning lengths within five percent. Compute accounting includes rollouts and judge inference. Separate rewriting controls and an image-ablated judge test the contribution of content changes and visual access on the held-out test problems.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six-month schedule begins with reproduction and a compute pilot, then diagram annotation, judge calibration, policy training, controlled tests, and a final human audit. Before policy training, the judge must meet development targets of at most ten percent false acceptance and at least seventy percent sufficient-trace recall. We retain three training seeds and reduce the number of budget settings if measured compute exceeds available capacity. Our prediction is improved premise retention and accuracy at matched lengths and compute. The experiment also has clear null outcomes: no accuracy gain, poor judge transfer, or gains that disappear under resource controls weaken that prediction. Retention gains alone support explanation quality. The deliverable is a controlled answer to the evidence-preservation question, with calibrated judgments, reproducible comparisons, and published failure cases alongside any successful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B4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82D5D5"/>
                </a:solidFill>
                <a:latin typeface="Liberation Sans"/>
              </a:defRPr>
            </a:pPr>
            <a:r>
              <a:t>PART I  /  PAPER ANALYSIS</a:t>
            </a:r>
          </a:p>
        </p:txBody>
      </p:sp>
      <p:sp>
        <p:nvSpPr>
          <p:cNvPr id="4" name="TextBox 3"/>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FFFFFF"/>
                </a:solidFill>
                <a:latin typeface="Liberation Sans"/>
              </a:defRPr>
            </a:pPr>
            <a:r>
              <a:t>01 / 16</a:t>
            </a:r>
          </a:p>
        </p:txBody>
      </p:sp>
      <p:sp>
        <p:nvSpPr>
          <p:cNvPr id="5" name="TextBox 4"/>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BDCED9"/>
                </a:solidFill>
                <a:latin typeface="Liberation Sans"/>
              </a:defRPr>
            </a:pPr>
            <a:r>
              <a:t>PDF p.1; title and author metadata</a:t>
            </a:r>
          </a:p>
        </p:txBody>
      </p:sp>
      <p:sp>
        <p:nvSpPr>
          <p:cNvPr id="6" name="TextBox 5"/>
          <p:cNvSpPr txBox="1"/>
          <p:nvPr/>
        </p:nvSpPr>
        <p:spPr>
          <a:xfrm>
            <a:off x="502920" y="731520"/>
            <a:ext cx="10972800" cy="1463040"/>
          </a:xfrm>
          <a:prstGeom prst="rect">
            <a:avLst/>
          </a:prstGeom>
          <a:noFill/>
        </p:spPr>
        <p:txBody>
          <a:bodyPr wrap="square" lIns="18288" rIns="18288" tIns="13716" bIns="13716">
            <a:spAutoFit/>
          </a:bodyPr>
          <a:lstStyle/>
          <a:p>
            <a:pPr>
              <a:spcAft>
                <a:spcPts val="800"/>
              </a:spcAft>
              <a:defRPr sz="3200" b="1">
                <a:solidFill>
                  <a:srgbClr val="FFFFFF"/>
                </a:solidFill>
                <a:latin typeface="Liberation Sans"/>
              </a:defRPr>
            </a:pPr>
            <a:r>
              <a:t>SketchThinker-R1: Towards Efficient Sketch-Style Reasoning in Large Multimodal Models</a:t>
            </a:r>
          </a:p>
        </p:txBody>
      </p:sp>
      <p:sp>
        <p:nvSpPr>
          <p:cNvPr id="7" name="TextBox 6"/>
          <p:cNvSpPr txBox="1"/>
          <p:nvPr/>
        </p:nvSpPr>
        <p:spPr>
          <a:xfrm>
            <a:off x="502920" y="2350008"/>
            <a:ext cx="10972800" cy="365760"/>
          </a:xfrm>
          <a:prstGeom prst="rect">
            <a:avLst/>
          </a:prstGeom>
          <a:noFill/>
        </p:spPr>
        <p:txBody>
          <a:bodyPr wrap="square" lIns="18288" rIns="18288" tIns="13716" bIns="13716">
            <a:spAutoFit/>
          </a:bodyPr>
          <a:lstStyle/>
          <a:p>
            <a:pPr>
              <a:spcAft>
                <a:spcPts val="800"/>
              </a:spcAft>
              <a:defRPr sz="2100" b="0">
                <a:solidFill>
                  <a:srgbClr val="FFFFFF"/>
                </a:solidFill>
                <a:latin typeface="Liberation Sans"/>
              </a:defRPr>
            </a:pPr>
            <a:r>
              <a:t>Ruiyang Zhang · Dongzhan Zhou · Zhedong Zheng</a:t>
            </a:r>
          </a:p>
        </p:txBody>
      </p:sp>
      <p:sp>
        <p:nvSpPr>
          <p:cNvPr id="8" name="TextBox 7"/>
          <p:cNvSpPr txBox="1"/>
          <p:nvPr/>
        </p:nvSpPr>
        <p:spPr>
          <a:xfrm>
            <a:off x="502920" y="2798064"/>
            <a:ext cx="10972800" cy="365760"/>
          </a:xfrm>
          <a:prstGeom prst="rect">
            <a:avLst/>
          </a:prstGeom>
          <a:noFill/>
        </p:spPr>
        <p:txBody>
          <a:bodyPr wrap="square" lIns="18288" rIns="18288" tIns="13716" bIns="13716">
            <a:spAutoFit/>
          </a:bodyPr>
          <a:lstStyle/>
          <a:p>
            <a:pPr>
              <a:spcAft>
                <a:spcPts val="800"/>
              </a:spcAft>
              <a:defRPr sz="1900" b="0">
                <a:solidFill>
                  <a:srgbClr val="BDCED9"/>
                </a:solidFill>
                <a:latin typeface="Liberation Sans"/>
              </a:defRPr>
            </a:pPr>
            <a:r>
              <a:t>University of Macau · Shanghai AI Laboratory</a:t>
            </a:r>
          </a:p>
        </p:txBody>
      </p:sp>
      <p:sp>
        <p:nvSpPr>
          <p:cNvPr id="9" name="TextBox 8"/>
          <p:cNvSpPr txBox="1"/>
          <p:nvPr/>
        </p:nvSpPr>
        <p:spPr>
          <a:xfrm>
            <a:off x="502920" y="3291840"/>
            <a:ext cx="10972800" cy="365760"/>
          </a:xfrm>
          <a:prstGeom prst="rect">
            <a:avLst/>
          </a:prstGeom>
          <a:noFill/>
        </p:spPr>
        <p:txBody>
          <a:bodyPr wrap="square" lIns="18288" rIns="18288" tIns="13716" bIns="13716">
            <a:spAutoFit/>
          </a:bodyPr>
          <a:lstStyle/>
          <a:p>
            <a:pPr>
              <a:spcAft>
                <a:spcPts val="800"/>
              </a:spcAft>
              <a:defRPr sz="2200" b="1">
                <a:solidFill>
                  <a:srgbClr val="82D5D5"/>
                </a:solidFill>
                <a:latin typeface="Liberation Sans"/>
              </a:defRPr>
            </a:pPr>
            <a:r>
              <a:t>ICLR 2026</a:t>
            </a:r>
          </a:p>
        </p:txBody>
      </p:sp>
      <p:sp>
        <p:nvSpPr>
          <p:cNvPr id="10" name="TextBox 9"/>
          <p:cNvSpPr txBox="1"/>
          <p:nvPr/>
        </p:nvSpPr>
        <p:spPr>
          <a:xfrm>
            <a:off x="502920" y="3886200"/>
            <a:ext cx="10972800" cy="320040"/>
          </a:xfrm>
          <a:prstGeom prst="rect">
            <a:avLst/>
          </a:prstGeom>
          <a:noFill/>
        </p:spPr>
        <p:txBody>
          <a:bodyPr wrap="square" lIns="18288" rIns="18288" tIns="13716" bIns="13716">
            <a:spAutoFit/>
          </a:bodyPr>
          <a:lstStyle/>
          <a:p>
            <a:pPr>
              <a:spcAft>
                <a:spcPts val="800"/>
              </a:spcAft>
              <a:defRPr sz="1600" b="0">
                <a:solidFill>
                  <a:srgbClr val="FFFFFF"/>
                </a:solidFill>
                <a:latin typeface="Liberation Sans"/>
              </a:defRPr>
            </a:pPr>
            <a:r>
              <a:t>EDIT — Group members &amp; contributions</a:t>
            </a:r>
          </a:p>
        </p:txBody>
      </p:sp>
      <p:graphicFrame>
        <p:nvGraphicFramePr>
          <p:cNvPr id="11" name="Table 10"/>
          <p:cNvGraphicFramePr>
            <a:graphicFrameLocks noGrp="1"/>
          </p:cNvGraphicFramePr>
          <p:nvPr/>
        </p:nvGraphicFramePr>
        <p:xfrm>
          <a:off x="502920" y="4343400"/>
          <a:ext cx="7498080" cy="1691640"/>
        </p:xfrm>
        <a:graphic>
          <a:graphicData uri="http://schemas.openxmlformats.org/drawingml/2006/table">
            <a:tbl>
              <a:tblPr firstRow="1" bandRow="1">
                <a:tableStyleId>{5C22544A-7EE6-4342-B048-85BDC9FD1C3A}</a:tableStyleId>
              </a:tblPr>
              <a:tblGrid>
                <a:gridCol w="1920240"/>
                <a:gridCol w="4206240"/>
                <a:gridCol w="1371600"/>
              </a:tblGrid>
              <a:tr h="338328">
                <a:tc>
                  <a:txBody>
                    <a:bodyPr/>
                    <a:lstStyle/>
                    <a:p>
                      <a:pPr>
                        <a:defRPr sz="1600" b="1">
                          <a:solidFill>
                            <a:srgbClr val="FFFFFF"/>
                          </a:solidFill>
                          <a:latin typeface="Liberation Sans"/>
                        </a:defRPr>
                      </a:pPr>
                      <a:r>
                        <a:t>Name</a:t>
                      </a:r>
                    </a:p>
                  </a:txBody>
                  <a:tcPr marL="109728" marR="73152" marT="54864" marB="36576" anchor="ctr">
                    <a:solidFill>
                      <a:srgbClr val="112B43"/>
                    </a:solidFill>
                  </a:tcPr>
                </a:tc>
                <a:tc>
                  <a:txBody>
                    <a:bodyPr/>
                    <a:lstStyle/>
                    <a:p>
                      <a:pPr>
                        <a:defRPr sz="1600" b="1">
                          <a:solidFill>
                            <a:srgbClr val="FFFFFF"/>
                          </a:solidFill>
                          <a:latin typeface="Liberation Sans"/>
                        </a:defRPr>
                      </a:pPr>
                      <a:r>
                        <a:t>Contribution</a:t>
                      </a:r>
                    </a:p>
                  </a:txBody>
                  <a:tcPr marL="109728" marR="73152" marT="54864" marB="36576" anchor="ctr">
                    <a:solidFill>
                      <a:srgbClr val="112B43"/>
                    </a:solidFill>
                  </a:tcPr>
                </a:tc>
                <a:tc>
                  <a:txBody>
                    <a:bodyPr/>
                    <a:lstStyle/>
                    <a:p>
                      <a:pPr>
                        <a:defRPr sz="1600" b="1">
                          <a:solidFill>
                            <a:srgbClr val="FFFFFF"/>
                          </a:solidFill>
                          <a:latin typeface="Liberation Sans"/>
                        </a:defRPr>
                      </a:pPr>
                      <a:r>
                        <a:t>%</a:t>
                      </a:r>
                    </a:p>
                  </a:txBody>
                  <a:tcPr marL="109728" marR="73152" marT="54864" marB="36576" anchor="ctr">
                    <a:solidFill>
                      <a:srgbClr val="112B43"/>
                    </a:solidFill>
                  </a:tcPr>
                </a:tc>
              </a:tr>
              <a:tr h="338328">
                <a:tc>
                  <a:txBody>
                    <a:bodyPr/>
                    <a:lstStyle/>
                    <a:p>
                      <a:pPr>
                        <a:defRPr sz="1600" b="0">
                          <a:solidFill>
                            <a:srgbClr val="203546"/>
                          </a:solidFill>
                          <a:latin typeface="Liberation Sans"/>
                        </a:defRPr>
                      </a:pPr>
                      <a:r>
                        <a:t>[Name A]</a:t>
                      </a:r>
                    </a:p>
                  </a:txBody>
                  <a:tcPr marL="109728" marR="73152" marT="54864" marB="36576" anchor="ctr">
                    <a:solidFill>
                      <a:srgbClr val="EEF4F6"/>
                    </a:solidFill>
                  </a:tcPr>
                </a:tc>
                <a:tc>
                  <a:txBody>
                    <a:bodyPr/>
                    <a:lstStyle/>
                    <a:p>
                      <a:pPr>
                        <a:defRPr sz="1600" b="0">
                          <a:solidFill>
                            <a:srgbClr val="203546"/>
                          </a:solidFill>
                          <a:latin typeface="Liberation Sans"/>
                        </a:defRPr>
                      </a:pPr>
                      <a:r>
                        <a:t>[contribution]</a:t>
                      </a:r>
                    </a:p>
                  </a:txBody>
                  <a:tcPr marL="109728" marR="73152" marT="54864" marB="36576" anchor="ctr">
                    <a:solidFill>
                      <a:srgbClr val="EEF4F6"/>
                    </a:solidFill>
                  </a:tcPr>
                </a:tc>
                <a:tc>
                  <a:txBody>
                    <a:bodyPr/>
                    <a:lstStyle/>
                    <a:p>
                      <a:pPr>
                        <a:defRPr sz="1600" b="0">
                          <a:solidFill>
                            <a:srgbClr val="203546"/>
                          </a:solidFill>
                          <a:latin typeface="Liberation Sans"/>
                        </a:defRPr>
                      </a:pPr>
                      <a:r>
                        <a:t>[xx%]</a:t>
                      </a:r>
                    </a:p>
                  </a:txBody>
                  <a:tcPr marL="109728" marR="73152" marT="54864" marB="36576" anchor="ctr">
                    <a:solidFill>
                      <a:srgbClr val="EEF4F6"/>
                    </a:solidFill>
                  </a:tcPr>
                </a:tc>
              </a:tr>
              <a:tr h="338328">
                <a:tc>
                  <a:txBody>
                    <a:bodyPr/>
                    <a:lstStyle/>
                    <a:p>
                      <a:pPr>
                        <a:defRPr sz="1600" b="0">
                          <a:solidFill>
                            <a:srgbClr val="203546"/>
                          </a:solidFill>
                          <a:latin typeface="Liberation Sans"/>
                        </a:defRPr>
                      </a:pPr>
                      <a:r>
                        <a:t>[Name B]</a:t>
                      </a:r>
                    </a:p>
                  </a:txBody>
                  <a:tcPr marL="109728" marR="73152" marT="54864" marB="36576" anchor="ctr">
                    <a:solidFill>
                      <a:srgbClr val="FFFFFF"/>
                    </a:solidFill>
                  </a:tcPr>
                </a:tc>
                <a:tc>
                  <a:txBody>
                    <a:bodyPr/>
                    <a:lstStyle/>
                    <a:p>
                      <a:pPr>
                        <a:defRPr sz="1600" b="0">
                          <a:solidFill>
                            <a:srgbClr val="203546"/>
                          </a:solidFill>
                          <a:latin typeface="Liberation Sans"/>
                        </a:defRPr>
                      </a:pPr>
                      <a:r>
                        <a:t>[contribution]</a:t>
                      </a:r>
                    </a:p>
                  </a:txBody>
                  <a:tcPr marL="109728" marR="73152" marT="54864" marB="36576" anchor="ctr">
                    <a:solidFill>
                      <a:srgbClr val="FFFFFF"/>
                    </a:solidFill>
                  </a:tcPr>
                </a:tc>
                <a:tc>
                  <a:txBody>
                    <a:bodyPr/>
                    <a:lstStyle/>
                    <a:p>
                      <a:pPr>
                        <a:defRPr sz="1600" b="0">
                          <a:solidFill>
                            <a:srgbClr val="203546"/>
                          </a:solidFill>
                          <a:latin typeface="Liberation Sans"/>
                        </a:defRPr>
                      </a:pPr>
                      <a:r>
                        <a:t>[xx%]</a:t>
                      </a:r>
                    </a:p>
                  </a:txBody>
                  <a:tcPr marL="109728" marR="73152" marT="54864" marB="36576" anchor="ctr">
                    <a:solidFill>
                      <a:srgbClr val="FFFFFF"/>
                    </a:solidFill>
                  </a:tcPr>
                </a:tc>
              </a:tr>
              <a:tr h="338328">
                <a:tc>
                  <a:txBody>
                    <a:bodyPr/>
                    <a:lstStyle/>
                    <a:p>
                      <a:pPr>
                        <a:defRPr sz="1600" b="0">
                          <a:solidFill>
                            <a:srgbClr val="203546"/>
                          </a:solidFill>
                          <a:latin typeface="Liberation Sans"/>
                        </a:defRPr>
                      </a:pPr>
                      <a:r>
                        <a:t>[Name C]</a:t>
                      </a:r>
                    </a:p>
                  </a:txBody>
                  <a:tcPr marL="109728" marR="73152" marT="54864" marB="36576" anchor="ctr">
                    <a:solidFill>
                      <a:srgbClr val="EEF4F6"/>
                    </a:solidFill>
                  </a:tcPr>
                </a:tc>
                <a:tc>
                  <a:txBody>
                    <a:bodyPr/>
                    <a:lstStyle/>
                    <a:p>
                      <a:pPr>
                        <a:defRPr sz="1600" b="0">
                          <a:solidFill>
                            <a:srgbClr val="203546"/>
                          </a:solidFill>
                          <a:latin typeface="Liberation Sans"/>
                        </a:defRPr>
                      </a:pPr>
                      <a:r>
                        <a:t>[contribution]</a:t>
                      </a:r>
                    </a:p>
                  </a:txBody>
                  <a:tcPr marL="109728" marR="73152" marT="54864" marB="36576" anchor="ctr">
                    <a:solidFill>
                      <a:srgbClr val="EEF4F6"/>
                    </a:solidFill>
                  </a:tcPr>
                </a:tc>
                <a:tc>
                  <a:txBody>
                    <a:bodyPr/>
                    <a:lstStyle/>
                    <a:p>
                      <a:pPr>
                        <a:defRPr sz="1600" b="0">
                          <a:solidFill>
                            <a:srgbClr val="203546"/>
                          </a:solidFill>
                          <a:latin typeface="Liberation Sans"/>
                        </a:defRPr>
                      </a:pPr>
                      <a:r>
                        <a:t>[xx%]</a:t>
                      </a:r>
                    </a:p>
                  </a:txBody>
                  <a:tcPr marL="109728" marR="73152" marT="54864" marB="36576" anchor="ctr">
                    <a:solidFill>
                      <a:srgbClr val="EEF4F6"/>
                    </a:solidFill>
                  </a:tcPr>
                </a:tc>
              </a:tr>
              <a:tr h="338328">
                <a:tc>
                  <a:txBody>
                    <a:bodyPr/>
                    <a:lstStyle/>
                    <a:p>
                      <a:pPr>
                        <a:defRPr sz="1600" b="0">
                          <a:solidFill>
                            <a:srgbClr val="203546"/>
                          </a:solidFill>
                          <a:latin typeface="Liberation Sans"/>
                        </a:defRPr>
                      </a:pPr>
                      <a:r>
                        <a:t>[Name D]</a:t>
                      </a:r>
                    </a:p>
                  </a:txBody>
                  <a:tcPr marL="109728" marR="73152" marT="54864" marB="36576" anchor="ctr">
                    <a:solidFill>
                      <a:srgbClr val="FFFFFF"/>
                    </a:solidFill>
                  </a:tcPr>
                </a:tc>
                <a:tc>
                  <a:txBody>
                    <a:bodyPr/>
                    <a:lstStyle/>
                    <a:p>
                      <a:pPr>
                        <a:defRPr sz="1600" b="0">
                          <a:solidFill>
                            <a:srgbClr val="203546"/>
                          </a:solidFill>
                          <a:latin typeface="Liberation Sans"/>
                        </a:defRPr>
                      </a:pPr>
                      <a:r>
                        <a:t>[contribution]</a:t>
                      </a:r>
                    </a:p>
                  </a:txBody>
                  <a:tcPr marL="109728" marR="73152" marT="54864" marB="36576" anchor="ctr">
                    <a:solidFill>
                      <a:srgbClr val="FFFFFF"/>
                    </a:solidFill>
                  </a:tcPr>
                </a:tc>
                <a:tc>
                  <a:txBody>
                    <a:bodyPr/>
                    <a:lstStyle/>
                    <a:p>
                      <a:pPr>
                        <a:defRPr sz="1600" b="0">
                          <a:solidFill>
                            <a:srgbClr val="203546"/>
                          </a:solidFill>
                          <a:latin typeface="Liberation Sans"/>
                        </a:defRPr>
                      </a:pPr>
                      <a:r>
                        <a:t>[xx%]</a:t>
                      </a:r>
                    </a:p>
                  </a:txBody>
                  <a:tcPr marL="109728" marR="73152" marT="54864" marB="36576" anchor="ctr">
                    <a:solidFill>
                      <a:srgbClr val="FFFFFF"/>
                    </a:solidFill>
                  </a:tcPr>
                </a:tc>
              </a:tr>
            </a:tbl>
          </a:graphicData>
        </a:graphic>
      </p:graphicFrame>
      <p:sp>
        <p:nvSpPr>
          <p:cNvPr id="12" name="TextBox 11"/>
          <p:cNvSpPr txBox="1"/>
          <p:nvPr/>
        </p:nvSpPr>
        <p:spPr>
          <a:xfrm>
            <a:off x="8549640" y="4297680"/>
            <a:ext cx="2834640" cy="1783080"/>
          </a:xfrm>
          <a:prstGeom prst="rect">
            <a:avLst/>
          </a:prstGeom>
          <a:noFill/>
        </p:spPr>
        <p:txBody>
          <a:bodyPr wrap="square" lIns="18288" rIns="18288" tIns="13716" bIns="13716">
            <a:spAutoFit/>
          </a:bodyPr>
          <a:lstStyle/>
          <a:p>
            <a:pPr>
              <a:spcAft>
                <a:spcPts val="800"/>
              </a:spcAft>
              <a:defRPr sz="1900" b="0">
                <a:solidFill>
                  <a:srgbClr val="FFFFFF"/>
                </a:solidFill>
                <a:latin typeface="Liberation Sans"/>
              </a:defRPr>
            </a:pPr>
            <a:r>
              <a:t>12 min</a:t>
            </a:r>
          </a:p>
          <a:p>
            <a:pPr>
              <a:spcAft>
                <a:spcPts val="800"/>
              </a:spcAft>
              <a:defRPr sz="1900" b="0">
                <a:solidFill>
                  <a:srgbClr val="FFFFFF"/>
                </a:solidFill>
                <a:latin typeface="Liberation Sans"/>
              </a:defRPr>
            </a:pPr>
            <a:r>
              <a:t>Paper analysis</a:t>
            </a:r>
          </a:p>
          <a:p>
            <a:pPr>
              <a:spcAft>
                <a:spcPts val="800"/>
              </a:spcAft>
              <a:defRPr sz="1900" b="0">
                <a:solidFill>
                  <a:srgbClr val="FFFFFF"/>
                </a:solidFill>
                <a:latin typeface="Liberation Sans"/>
              </a:defRPr>
            </a:pPr>
          </a:p>
          <a:p>
            <a:pPr>
              <a:spcAft>
                <a:spcPts val="800"/>
              </a:spcAft>
              <a:defRPr sz="1900" b="0">
                <a:solidFill>
                  <a:srgbClr val="FFFFFF"/>
                </a:solidFill>
                <a:latin typeface="Liberation Sans"/>
              </a:defRPr>
            </a:pPr>
            <a:r>
              <a:t>3 min</a:t>
            </a:r>
          </a:p>
          <a:p>
            <a:pPr>
              <a:spcAft>
                <a:spcPts val="800"/>
              </a:spcAft>
              <a:defRPr sz="1900" b="0">
                <a:solidFill>
                  <a:srgbClr val="FFFFFF"/>
                </a:solidFill>
                <a:latin typeface="Liberation Sans"/>
              </a:defRPr>
            </a:pPr>
            <a:r>
              <a:t>Research pitch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Long reasoning spends tokens on repeated explanation</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02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pp.1–2, Fig.1; p.8, Fig.3</a:t>
            </a:r>
          </a:p>
        </p:txBody>
      </p:sp>
      <p:sp>
        <p:nvSpPr>
          <p:cNvPr id="7" name="TextBox 6"/>
          <p:cNvSpPr txBox="1"/>
          <p:nvPr/>
        </p:nvSpPr>
        <p:spPr>
          <a:xfrm>
            <a:off x="640080" y="1691640"/>
            <a:ext cx="3017520" cy="365760"/>
          </a:xfrm>
          <a:prstGeom prst="rect">
            <a:avLst/>
          </a:prstGeom>
          <a:noFill/>
        </p:spPr>
        <p:txBody>
          <a:bodyPr wrap="square" lIns="18288" rIns="18288" tIns="13716" bIns="13716">
            <a:spAutoFit/>
          </a:bodyPr>
          <a:lstStyle/>
          <a:p>
            <a:pPr>
              <a:spcAft>
                <a:spcPts val="800"/>
              </a:spcAft>
              <a:defRPr sz="2400" b="1">
                <a:solidFill>
                  <a:srgbClr val="203546"/>
                </a:solidFill>
                <a:latin typeface="Liberation Sans"/>
              </a:defRPr>
            </a:pPr>
            <a:r>
              <a:t>Image + question</a:t>
            </a:r>
          </a:p>
        </p:txBody>
      </p:sp>
      <p:pic>
        <p:nvPicPr>
          <p:cNvPr id="8" name="Picture 7" descr="paper-fig3-circles.png"/>
          <p:cNvPicPr>
            <a:picLocks noChangeAspect="1"/>
          </p:cNvPicPr>
          <p:nvPr/>
        </p:nvPicPr>
        <p:blipFill>
          <a:blip r:embed="rId2"/>
          <a:stretch>
            <a:fillRect/>
          </a:stretch>
        </p:blipFill>
        <p:spPr>
          <a:xfrm>
            <a:off x="822959" y="2465487"/>
            <a:ext cx="2560320" cy="1927025"/>
          </a:xfrm>
          <a:prstGeom prst="rect">
            <a:avLst/>
          </a:prstGeom>
        </p:spPr>
      </p:pic>
      <p:sp>
        <p:nvSpPr>
          <p:cNvPr id="9" name="TextBox 8"/>
          <p:cNvSpPr txBox="1"/>
          <p:nvPr/>
        </p:nvSpPr>
        <p:spPr>
          <a:xfrm>
            <a:off x="594360" y="4754880"/>
            <a:ext cx="3200400" cy="914400"/>
          </a:xfrm>
          <a:prstGeom prst="rect">
            <a:avLst/>
          </a:prstGeom>
          <a:noFill/>
        </p:spPr>
        <p:txBody>
          <a:bodyPr wrap="square" lIns="18288" rIns="18288" tIns="13716" bIns="13716">
            <a:spAutoFit/>
          </a:bodyPr>
          <a:lstStyle/>
          <a:p>
            <a:pPr>
              <a:spcAft>
                <a:spcPts val="800"/>
              </a:spcAft>
              <a:defRPr sz="1800" b="0">
                <a:solidFill>
                  <a:srgbClr val="203546"/>
                </a:solidFill>
                <a:latin typeface="Liberation Sans"/>
              </a:defRPr>
            </a:pPr>
            <a:r>
              <a:t>Three externally tangent circles</a:t>
            </a:r>
          </a:p>
          <a:p>
            <a:pPr>
              <a:spcAft>
                <a:spcPts val="800"/>
              </a:spcAft>
              <a:defRPr sz="1800" b="0">
                <a:solidFill>
                  <a:srgbClr val="203546"/>
                </a:solidFill>
                <a:latin typeface="Liberation Sans"/>
              </a:defRPr>
            </a:pPr>
            <a:r>
              <a:t>Find the area between centers</a:t>
            </a:r>
          </a:p>
        </p:txBody>
      </p:sp>
      <p:sp>
        <p:nvSpPr>
          <p:cNvPr id="10" name="Chevron 9"/>
          <p:cNvSpPr/>
          <p:nvPr/>
        </p:nvSpPr>
        <p:spPr>
          <a:xfrm>
            <a:off x="3886200" y="2926080"/>
            <a:ext cx="411480" cy="411479"/>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40"/>
            <a:ext cx="3108960" cy="365760"/>
          </a:xfrm>
          <a:prstGeom prst="rect">
            <a:avLst/>
          </a:prstGeom>
          <a:noFill/>
        </p:spPr>
        <p:txBody>
          <a:bodyPr wrap="square" lIns="18288" rIns="18288" tIns="13716" bIns="13716">
            <a:spAutoFit/>
          </a:bodyPr>
          <a:lstStyle/>
          <a:p>
            <a:pPr>
              <a:spcAft>
                <a:spcPts val="800"/>
              </a:spcAft>
              <a:defRPr sz="2200" b="1">
                <a:solidFill>
                  <a:srgbClr val="203546"/>
                </a:solidFill>
                <a:latin typeface="Liberation Sans"/>
              </a:defRPr>
            </a:pPr>
            <a:r>
              <a:t>Verbose explanation</a:t>
            </a:r>
          </a:p>
        </p:txBody>
      </p:sp>
      <p:sp>
        <p:nvSpPr>
          <p:cNvPr id="12" name="Rectangle 11"/>
          <p:cNvSpPr/>
          <p:nvPr/>
        </p:nvSpPr>
        <p:spPr>
          <a:xfrm>
            <a:off x="4663440" y="2377440"/>
            <a:ext cx="4754880" cy="73152"/>
          </a:xfrm>
          <a:prstGeom prst="rect">
            <a:avLst/>
          </a:prstGeom>
          <a:solidFill>
            <a:srgbClr val="C7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63440" y="2697480"/>
            <a:ext cx="4389120" cy="73152"/>
          </a:xfrm>
          <a:prstGeom prst="rect">
            <a:avLst/>
          </a:prstGeom>
          <a:solidFill>
            <a:srgbClr val="C7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63440" y="3017520"/>
            <a:ext cx="5120640" cy="73152"/>
          </a:xfrm>
          <a:prstGeom prst="rect">
            <a:avLst/>
          </a:prstGeom>
          <a:solidFill>
            <a:srgbClr val="C7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63440" y="3337560"/>
            <a:ext cx="4023360" cy="73152"/>
          </a:xfrm>
          <a:prstGeom prst="rect">
            <a:avLst/>
          </a:prstGeom>
          <a:solidFill>
            <a:srgbClr val="C7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0" y="3657600"/>
            <a:ext cx="4572000" cy="73152"/>
          </a:xfrm>
          <a:prstGeom prst="rect">
            <a:avLst/>
          </a:prstGeom>
          <a:solidFill>
            <a:srgbClr val="C7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4251960"/>
            <a:ext cx="6217920" cy="411480"/>
          </a:xfrm>
          <a:prstGeom prst="rect">
            <a:avLst/>
          </a:prstGeom>
          <a:noFill/>
        </p:spPr>
        <p:txBody>
          <a:bodyPr wrap="square" lIns="18288" rIns="18288" tIns="13716" bIns="13716">
            <a:spAutoFit/>
          </a:bodyPr>
          <a:lstStyle/>
          <a:p>
            <a:pPr>
              <a:spcAft>
                <a:spcPts val="800"/>
              </a:spcAft>
              <a:defRPr sz="2400" b="1">
                <a:solidFill>
                  <a:srgbClr val="087F8C"/>
                </a:solidFill>
                <a:latin typeface="Liberation Sans"/>
              </a:defRPr>
            </a:pPr>
            <a:r>
              <a:t>Textual sketch</a:t>
            </a:r>
          </a:p>
        </p:txBody>
      </p:sp>
      <p:sp>
        <p:nvSpPr>
          <p:cNvPr id="18" name="TextBox 17"/>
          <p:cNvSpPr txBox="1"/>
          <p:nvPr/>
        </p:nvSpPr>
        <p:spPr>
          <a:xfrm>
            <a:off x="4617720" y="4828032"/>
            <a:ext cx="6675120" cy="640080"/>
          </a:xfrm>
          <a:prstGeom prst="rect">
            <a:avLst/>
          </a:prstGeom>
          <a:noFill/>
        </p:spPr>
        <p:txBody>
          <a:bodyPr wrap="square" lIns="18288" rIns="18288" tIns="13716" bIns="13716">
            <a:spAutoFit/>
          </a:bodyPr>
          <a:lstStyle/>
          <a:p>
            <a:pPr>
              <a:spcAft>
                <a:spcPts val="800"/>
              </a:spcAft>
              <a:defRPr sz="2200" b="0">
                <a:solidFill>
                  <a:srgbClr val="203546"/>
                </a:solidFill>
                <a:latin typeface="Liberation Sans"/>
              </a:defRPr>
            </a:pPr>
            <a:r>
              <a:t>Tangency → distances → triangle → area</a:t>
            </a:r>
          </a:p>
        </p:txBody>
      </p:sp>
      <p:sp>
        <p:nvSpPr>
          <p:cNvPr id="19" name="TextBox 18"/>
          <p:cNvSpPr txBox="1"/>
          <p:nvPr/>
        </p:nvSpPr>
        <p:spPr>
          <a:xfrm>
            <a:off x="4617720" y="5669280"/>
            <a:ext cx="6675120" cy="365760"/>
          </a:xfrm>
          <a:prstGeom prst="rect">
            <a:avLst/>
          </a:prstGeom>
          <a:noFill/>
        </p:spPr>
        <p:txBody>
          <a:bodyPr wrap="square" lIns="18288" rIns="18288" tIns="13716" bIns="13716">
            <a:spAutoFit/>
          </a:bodyPr>
          <a:lstStyle/>
          <a:p>
            <a:pPr>
              <a:spcAft>
                <a:spcPts val="800"/>
              </a:spcAft>
              <a:defRPr sz="2000" b="1">
                <a:solidFill>
                  <a:srgbClr val="087F8C"/>
                </a:solidFill>
                <a:latin typeface="Liberation Sans"/>
              </a:defRPr>
            </a:pPr>
            <a:r>
              <a:t>Goal: retain the key logical 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Three training stages turn sketches into a policy</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03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p.3, Fig.2; §§2.1–2.3</a:t>
            </a:r>
          </a:p>
        </p:txBody>
      </p:sp>
      <p:sp>
        <p:nvSpPr>
          <p:cNvPr id="7" name="Rectangle 6"/>
          <p:cNvSpPr/>
          <p:nvPr/>
        </p:nvSpPr>
        <p:spPr>
          <a:xfrm>
            <a:off x="502920" y="1783080"/>
            <a:ext cx="3493008" cy="2057400"/>
          </a:xfrm>
          <a:prstGeom prst="rect">
            <a:avLst/>
          </a:prstGeom>
          <a:solidFill>
            <a:srgbClr val="EE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938528"/>
            <a:ext cx="3200400" cy="457200"/>
          </a:xfrm>
          <a:prstGeom prst="rect">
            <a:avLst/>
          </a:prstGeom>
          <a:noFill/>
        </p:spPr>
        <p:txBody>
          <a:bodyPr wrap="square" lIns="18288" rIns="18288" tIns="13716" bIns="13716">
            <a:spAutoFit/>
          </a:bodyPr>
          <a:lstStyle/>
          <a:p>
            <a:pPr>
              <a:spcAft>
                <a:spcPts val="800"/>
              </a:spcAft>
              <a:defRPr sz="2400" b="1">
                <a:solidFill>
                  <a:srgbClr val="087F8C"/>
                </a:solidFill>
                <a:latin typeface="Liberation Sans"/>
              </a:defRPr>
            </a:pPr>
            <a:r>
              <a:t>1 · Cold Start</a:t>
            </a:r>
          </a:p>
        </p:txBody>
      </p:sp>
      <p:sp>
        <p:nvSpPr>
          <p:cNvPr id="9" name="TextBox 8"/>
          <p:cNvSpPr txBox="1"/>
          <p:nvPr/>
        </p:nvSpPr>
        <p:spPr>
          <a:xfrm>
            <a:off x="649224" y="2651760"/>
            <a:ext cx="3200400" cy="1024128"/>
          </a:xfrm>
          <a:prstGeom prst="rect">
            <a:avLst/>
          </a:prstGeom>
          <a:noFill/>
        </p:spPr>
        <p:txBody>
          <a:bodyPr wrap="square" lIns="18288" rIns="18288" tIns="13716" bIns="13716">
            <a:spAutoFit/>
          </a:bodyPr>
          <a:lstStyle/>
          <a:p>
            <a:pPr>
              <a:spcAft>
                <a:spcPts val="800"/>
              </a:spcAft>
              <a:defRPr sz="1800" b="0">
                <a:solidFill>
                  <a:srgbClr val="203546"/>
                </a:solidFill>
                <a:latin typeface="Liberation Sans"/>
              </a:defRPr>
            </a:pPr>
            <a:r>
              <a:t>GPT-5 rewrites long traces</a:t>
            </a:r>
          </a:p>
          <a:p>
            <a:pPr>
              <a:spcAft>
                <a:spcPts val="800"/>
              </a:spcAft>
              <a:defRPr sz="1800" b="0">
                <a:solidFill>
                  <a:srgbClr val="203546"/>
                </a:solidFill>
                <a:latin typeface="Liberation Sans"/>
              </a:defRPr>
            </a:pPr>
            <a:r>
              <a:t>Supervise the answering model</a:t>
            </a:r>
          </a:p>
        </p:txBody>
      </p:sp>
      <p:sp>
        <p:nvSpPr>
          <p:cNvPr id="10" name="Chevron 9"/>
          <p:cNvSpPr/>
          <p:nvPr/>
        </p:nvSpPr>
        <p:spPr>
          <a:xfrm>
            <a:off x="4078224" y="2560320"/>
            <a:ext cx="201167" cy="310896"/>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783080"/>
            <a:ext cx="3493008" cy="2057400"/>
          </a:xfrm>
          <a:prstGeom prst="rect">
            <a:avLst/>
          </a:prstGeom>
          <a:solidFill>
            <a:srgbClr val="EE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1938528"/>
            <a:ext cx="3200400" cy="457200"/>
          </a:xfrm>
          <a:prstGeom prst="rect">
            <a:avLst/>
          </a:prstGeom>
          <a:noFill/>
        </p:spPr>
        <p:txBody>
          <a:bodyPr wrap="square" lIns="18288" rIns="18288" tIns="13716" bIns="13716">
            <a:spAutoFit/>
          </a:bodyPr>
          <a:lstStyle/>
          <a:p>
            <a:pPr>
              <a:spcAft>
                <a:spcPts val="800"/>
              </a:spcAft>
              <a:defRPr sz="2400" b="1">
                <a:solidFill>
                  <a:srgbClr val="087F8C"/>
                </a:solidFill>
                <a:latin typeface="Liberation Sans"/>
              </a:defRPr>
            </a:pPr>
            <a:r>
              <a:t>2 · SketchJudge</a:t>
            </a:r>
          </a:p>
        </p:txBody>
      </p:sp>
      <p:sp>
        <p:nvSpPr>
          <p:cNvPr id="13" name="TextBox 12"/>
          <p:cNvSpPr txBox="1"/>
          <p:nvPr/>
        </p:nvSpPr>
        <p:spPr>
          <a:xfrm>
            <a:off x="4489704" y="2651760"/>
            <a:ext cx="3200400" cy="1024128"/>
          </a:xfrm>
          <a:prstGeom prst="rect">
            <a:avLst/>
          </a:prstGeom>
          <a:noFill/>
        </p:spPr>
        <p:txBody>
          <a:bodyPr wrap="square" lIns="18288" rIns="18288" tIns="13716" bIns="13716">
            <a:spAutoFit/>
          </a:bodyPr>
          <a:lstStyle/>
          <a:p>
            <a:pPr>
              <a:spcAft>
                <a:spcPts val="800"/>
              </a:spcAft>
              <a:defRPr sz="1800" b="0">
                <a:solidFill>
                  <a:srgbClr val="203546"/>
                </a:solidFill>
                <a:latin typeface="Liberation Sans"/>
              </a:defRPr>
            </a:pPr>
            <a:r>
              <a:t>Train long / sketch labels</a:t>
            </a:r>
          </a:p>
          <a:p>
            <a:pPr>
              <a:spcAft>
                <a:spcPts val="800"/>
              </a:spcAft>
              <a:defRPr sz="1800" b="0">
                <a:solidFill>
                  <a:srgbClr val="203546"/>
                </a:solidFill>
                <a:latin typeface="Liberation Sans"/>
              </a:defRPr>
            </a:pPr>
            <a:r>
              <a:t>Score thinking text only</a:t>
            </a:r>
          </a:p>
        </p:txBody>
      </p:sp>
      <p:sp>
        <p:nvSpPr>
          <p:cNvPr id="14" name="Chevron 13"/>
          <p:cNvSpPr/>
          <p:nvPr/>
        </p:nvSpPr>
        <p:spPr>
          <a:xfrm>
            <a:off x="7918704" y="2560320"/>
            <a:ext cx="201167" cy="310896"/>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1783080"/>
            <a:ext cx="3493008" cy="2057400"/>
          </a:xfrm>
          <a:prstGeom prst="rect">
            <a:avLst/>
          </a:prstGeom>
          <a:solidFill>
            <a:srgbClr val="EE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4" y="1938528"/>
            <a:ext cx="3200400" cy="457200"/>
          </a:xfrm>
          <a:prstGeom prst="rect">
            <a:avLst/>
          </a:prstGeom>
          <a:noFill/>
        </p:spPr>
        <p:txBody>
          <a:bodyPr wrap="square" lIns="18288" rIns="18288" tIns="13716" bIns="13716">
            <a:spAutoFit/>
          </a:bodyPr>
          <a:lstStyle/>
          <a:p>
            <a:pPr>
              <a:spcAft>
                <a:spcPts val="800"/>
              </a:spcAft>
              <a:defRPr sz="2400" b="1">
                <a:solidFill>
                  <a:srgbClr val="087F8C"/>
                </a:solidFill>
                <a:latin typeface="Liberation Sans"/>
              </a:defRPr>
            </a:pPr>
            <a:r>
              <a:t>3 · Sketch RL</a:t>
            </a:r>
          </a:p>
        </p:txBody>
      </p:sp>
      <p:sp>
        <p:nvSpPr>
          <p:cNvPr id="17" name="TextBox 16"/>
          <p:cNvSpPr txBox="1"/>
          <p:nvPr/>
        </p:nvSpPr>
        <p:spPr>
          <a:xfrm>
            <a:off x="8330184" y="2651760"/>
            <a:ext cx="3200400" cy="1024128"/>
          </a:xfrm>
          <a:prstGeom prst="rect">
            <a:avLst/>
          </a:prstGeom>
          <a:noFill/>
        </p:spPr>
        <p:txBody>
          <a:bodyPr wrap="square" lIns="18288" rIns="18288" tIns="13716" bIns="13716">
            <a:spAutoFit/>
          </a:bodyPr>
          <a:lstStyle/>
          <a:p>
            <a:pPr>
              <a:spcAft>
                <a:spcPts val="800"/>
              </a:spcAft>
              <a:defRPr sz="1800" b="0">
                <a:solidFill>
                  <a:srgbClr val="203546"/>
                </a:solidFill>
                <a:latin typeface="Liberation Sans"/>
              </a:defRPr>
            </a:pPr>
            <a:r>
              <a:t>GRPO on new questions</a:t>
            </a:r>
          </a:p>
          <a:p>
            <a:pPr>
              <a:spcAft>
                <a:spcPts val="800"/>
              </a:spcAft>
              <a:defRPr sz="1800" b="0">
                <a:solidFill>
                  <a:srgbClr val="203546"/>
                </a:solidFill>
                <a:latin typeface="Liberation Sans"/>
              </a:defRPr>
            </a:pPr>
            <a:r>
              <a:t>Accuracy + format + style</a:t>
            </a:r>
          </a:p>
        </p:txBody>
      </p:sp>
      <p:pic>
        <p:nvPicPr>
          <p:cNvPr id="18" name="Picture 17" descr="paper-fig2-pipeline.png"/>
          <p:cNvPicPr>
            <a:picLocks noChangeAspect="1"/>
          </p:cNvPicPr>
          <p:nvPr/>
        </p:nvPicPr>
        <p:blipFill>
          <a:blip r:embed="rId2"/>
          <a:stretch>
            <a:fillRect/>
          </a:stretch>
        </p:blipFill>
        <p:spPr>
          <a:xfrm>
            <a:off x="2079557" y="4206240"/>
            <a:ext cx="8093844" cy="1783080"/>
          </a:xfrm>
          <a:prstGeom prst="rect">
            <a:avLst/>
          </a:prstGeom>
        </p:spPr>
      </p:pic>
      <p:sp>
        <p:nvSpPr>
          <p:cNvPr id="19" name="TextBox 18"/>
          <p:cNvSpPr txBox="1"/>
          <p:nvPr/>
        </p:nvSpPr>
        <p:spPr>
          <a:xfrm>
            <a:off x="548640" y="6062472"/>
            <a:ext cx="10058400" cy="274320"/>
          </a:xfrm>
          <a:prstGeom prst="rect">
            <a:avLst/>
          </a:prstGeom>
          <a:noFill/>
        </p:spPr>
        <p:txBody>
          <a:bodyPr wrap="square" lIns="18288" rIns="18288" tIns="13716" bIns="13716">
            <a:spAutoFit/>
          </a:bodyPr>
          <a:lstStyle/>
          <a:p>
            <a:pPr>
              <a:spcAft>
                <a:spcPts val="800"/>
              </a:spcAft>
              <a:defRPr sz="1600" b="0">
                <a:solidFill>
                  <a:srgbClr val="203546"/>
                </a:solidFill>
                <a:latin typeface="Liberation Sans"/>
              </a:defRPr>
            </a:pPr>
            <a:r>
              <a:t>Top: redrawn pipeline · Bottom: original Figure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Cold start teaches the model what a sketch looks like</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04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p.5, §3; p.14, App.D.1; p.21, Table16</a:t>
            </a:r>
          </a:p>
        </p:txBody>
      </p:sp>
      <p:graphicFrame>
        <p:nvGraphicFramePr>
          <p:cNvPr id="7" name="Table 6"/>
          <p:cNvGraphicFramePr>
            <a:graphicFrameLocks noGrp="1"/>
          </p:cNvGraphicFramePr>
          <p:nvPr/>
        </p:nvGraphicFramePr>
        <p:xfrm>
          <a:off x="594360" y="1783080"/>
          <a:ext cx="6126480" cy="1737360"/>
        </p:xfrm>
        <a:graphic>
          <a:graphicData uri="http://schemas.openxmlformats.org/drawingml/2006/table">
            <a:tbl>
              <a:tblPr firstRow="1" bandRow="1">
                <a:tableStyleId>{5C22544A-7EE6-4342-B048-85BDC9FD1C3A}</a:tableStyleId>
              </a:tblPr>
              <a:tblGrid>
                <a:gridCol w="4480560"/>
                <a:gridCol w="1645920"/>
              </a:tblGrid>
              <a:tr h="579120">
                <a:tc>
                  <a:txBody>
                    <a:bodyPr/>
                    <a:lstStyle/>
                    <a:p>
                      <a:pPr>
                        <a:defRPr sz="2000" b="1">
                          <a:solidFill>
                            <a:srgbClr val="FFFFFF"/>
                          </a:solidFill>
                          <a:latin typeface="Liberation Sans"/>
                        </a:defRPr>
                      </a:pPr>
                      <a:r>
                        <a:t>Existing long-trace source</a:t>
                      </a:r>
                    </a:p>
                  </a:txBody>
                  <a:tcPr marL="109728" marR="73152" marT="54864" marB="36576" anchor="ctr">
                    <a:solidFill>
                      <a:srgbClr val="112B43"/>
                    </a:solidFill>
                  </a:tcPr>
                </a:tc>
                <a:tc>
                  <a:txBody>
                    <a:bodyPr/>
                    <a:lstStyle/>
                    <a:p>
                      <a:pPr>
                        <a:defRPr sz="2000" b="1">
                          <a:solidFill>
                            <a:srgbClr val="FFFFFF"/>
                          </a:solidFill>
                          <a:latin typeface="Liberation Sans"/>
                        </a:defRPr>
                      </a:pPr>
                      <a:r>
                        <a:t>Sampled questions</a:t>
                      </a:r>
                    </a:p>
                  </a:txBody>
                  <a:tcPr marL="109728" marR="73152" marT="54864" marB="36576" anchor="ctr">
                    <a:solidFill>
                      <a:srgbClr val="112B43"/>
                    </a:solidFill>
                  </a:tcPr>
                </a:tc>
              </a:tr>
              <a:tr h="579120">
                <a:tc>
                  <a:txBody>
                    <a:bodyPr/>
                    <a:lstStyle/>
                    <a:p>
                      <a:pPr>
                        <a:defRPr sz="2000" b="0">
                          <a:solidFill>
                            <a:srgbClr val="203546"/>
                          </a:solidFill>
                          <a:latin typeface="Liberation Sans"/>
                        </a:defRPr>
                      </a:pPr>
                      <a:r>
                        <a:t>LLaVA-CoT-100K</a:t>
                      </a:r>
                    </a:p>
                  </a:txBody>
                  <a:tcPr marL="109728" marR="73152" marT="54864" marB="36576" anchor="ctr">
                    <a:solidFill>
                      <a:srgbClr val="EEF4F6"/>
                    </a:solidFill>
                  </a:tcPr>
                </a:tc>
                <a:tc>
                  <a:txBody>
                    <a:bodyPr/>
                    <a:lstStyle/>
                    <a:p>
                      <a:pPr>
                        <a:defRPr sz="2000" b="0">
                          <a:solidFill>
                            <a:srgbClr val="203546"/>
                          </a:solidFill>
                          <a:latin typeface="Liberation Sans"/>
                        </a:defRPr>
                      </a:pPr>
                      <a:r>
                        <a:t>10,000</a:t>
                      </a:r>
                    </a:p>
                  </a:txBody>
                  <a:tcPr marL="109728" marR="73152" marT="54864" marB="36576" anchor="ctr">
                    <a:solidFill>
                      <a:srgbClr val="EEF4F6"/>
                    </a:solidFill>
                  </a:tcPr>
                </a:tc>
              </a:tr>
              <a:tr h="579120">
                <a:tc>
                  <a:txBody>
                    <a:bodyPr/>
                    <a:lstStyle/>
                    <a:p>
                      <a:pPr>
                        <a:defRPr sz="2000" b="0">
                          <a:solidFill>
                            <a:srgbClr val="203546"/>
                          </a:solidFill>
                          <a:latin typeface="Liberation Sans"/>
                        </a:defRPr>
                      </a:pPr>
                      <a:r>
                        <a:t>Vision-R1-cold</a:t>
                      </a:r>
                    </a:p>
                  </a:txBody>
                  <a:tcPr marL="109728" marR="73152" marT="54864" marB="36576" anchor="ctr">
                    <a:solidFill>
                      <a:srgbClr val="FFFFFF"/>
                    </a:solidFill>
                  </a:tcPr>
                </a:tc>
                <a:tc>
                  <a:txBody>
                    <a:bodyPr/>
                    <a:lstStyle/>
                    <a:p>
                      <a:pPr>
                        <a:defRPr sz="2000" b="0">
                          <a:solidFill>
                            <a:srgbClr val="203546"/>
                          </a:solidFill>
                          <a:latin typeface="Liberation Sans"/>
                        </a:defRPr>
                      </a:pPr>
                      <a:r>
                        <a:t>10,000</a:t>
                      </a:r>
                    </a:p>
                  </a:txBody>
                  <a:tcPr marL="109728" marR="73152" marT="54864" marB="36576" anchor="ctr">
                    <a:solidFill>
                      <a:srgbClr val="FFFFFF"/>
                    </a:solidFill>
                  </a:tcPr>
                </a:tc>
              </a:tr>
            </a:tbl>
          </a:graphicData>
        </a:graphic>
      </p:graphicFrame>
      <p:sp>
        <p:nvSpPr>
          <p:cNvPr id="8" name="TextBox 7"/>
          <p:cNvSpPr txBox="1"/>
          <p:nvPr/>
        </p:nvSpPr>
        <p:spPr>
          <a:xfrm>
            <a:off x="7498079" y="1828800"/>
            <a:ext cx="3657600" cy="822960"/>
          </a:xfrm>
          <a:prstGeom prst="rect">
            <a:avLst/>
          </a:prstGeom>
          <a:noFill/>
        </p:spPr>
        <p:txBody>
          <a:bodyPr wrap="square" lIns="18288" rIns="18288" tIns="13716" bIns="13716">
            <a:spAutoFit/>
          </a:bodyPr>
          <a:lstStyle/>
          <a:p>
            <a:pPr>
              <a:spcAft>
                <a:spcPts val="800"/>
              </a:spcAft>
              <a:defRPr sz="5400" b="1">
                <a:solidFill>
                  <a:srgbClr val="087F8C"/>
                </a:solidFill>
                <a:latin typeface="Liberation Sans"/>
              </a:defRPr>
            </a:pPr>
            <a:r>
              <a:t>20K</a:t>
            </a:r>
          </a:p>
        </p:txBody>
      </p:sp>
      <p:sp>
        <p:nvSpPr>
          <p:cNvPr id="9" name="TextBox 8"/>
          <p:cNvSpPr txBox="1"/>
          <p:nvPr/>
        </p:nvSpPr>
        <p:spPr>
          <a:xfrm>
            <a:off x="7498079" y="2743200"/>
            <a:ext cx="3840480" cy="457200"/>
          </a:xfrm>
          <a:prstGeom prst="rect">
            <a:avLst/>
          </a:prstGeom>
          <a:noFill/>
        </p:spPr>
        <p:txBody>
          <a:bodyPr wrap="square" lIns="18288" rIns="18288" tIns="13716" bIns="13716">
            <a:spAutoFit/>
          </a:bodyPr>
          <a:lstStyle/>
          <a:p>
            <a:pPr>
              <a:spcAft>
                <a:spcPts val="800"/>
              </a:spcAft>
              <a:defRPr sz="2200" b="1">
                <a:solidFill>
                  <a:srgbClr val="203546"/>
                </a:solidFill>
                <a:latin typeface="Liberation Sans"/>
              </a:defRPr>
            </a:pPr>
            <a:r>
              <a:t>SketchColdStart-20K</a:t>
            </a:r>
          </a:p>
        </p:txBody>
      </p:sp>
      <p:sp>
        <p:nvSpPr>
          <p:cNvPr id="10" name="TextBox 9"/>
          <p:cNvSpPr txBox="1"/>
          <p:nvPr/>
        </p:nvSpPr>
        <p:spPr>
          <a:xfrm>
            <a:off x="685800" y="4069080"/>
            <a:ext cx="10972800" cy="548640"/>
          </a:xfrm>
          <a:prstGeom prst="rect">
            <a:avLst/>
          </a:prstGeom>
          <a:noFill/>
        </p:spPr>
        <p:txBody>
          <a:bodyPr wrap="square" lIns="18288" rIns="18288" tIns="13716" bIns="13716">
            <a:spAutoFit/>
          </a:bodyPr>
          <a:lstStyle/>
          <a:p>
            <a:pPr>
              <a:spcAft>
                <a:spcPts val="800"/>
              </a:spcAft>
              <a:defRPr sz="2600" b="1">
                <a:solidFill>
                  <a:srgbClr val="087F8C"/>
                </a:solidFill>
                <a:latin typeface="Liberation Sans"/>
              </a:defRPr>
            </a:pPr>
            <a:r>
              <a:t>Long trace  →  GPT-5 rewrite  →  numbered sketch</a:t>
            </a:r>
          </a:p>
        </p:txBody>
      </p:sp>
      <p:sp>
        <p:nvSpPr>
          <p:cNvPr id="11" name="TextBox 10"/>
          <p:cNvSpPr txBox="1"/>
          <p:nvPr/>
        </p:nvSpPr>
        <p:spPr>
          <a:xfrm>
            <a:off x="685800" y="4892040"/>
            <a:ext cx="10058400" cy="457200"/>
          </a:xfrm>
          <a:prstGeom prst="rect">
            <a:avLst/>
          </a:prstGeom>
          <a:noFill/>
        </p:spPr>
        <p:txBody>
          <a:bodyPr wrap="square" lIns="18288" rIns="18288" tIns="13716" bIns="13716">
            <a:spAutoFit/>
          </a:bodyPr>
          <a:lstStyle/>
          <a:p>
            <a:pPr>
              <a:spcAft>
                <a:spcPts val="800"/>
              </a:spcAft>
              <a:defRPr sz="2400" b="1">
                <a:solidFill>
                  <a:srgbClr val="203546"/>
                </a:solidFill>
                <a:latin typeface="Liberation Sans"/>
              </a:defRPr>
            </a:pPr>
            <a:r>
              <a:t>Supervised next-token training</a:t>
            </a:r>
          </a:p>
        </p:txBody>
      </p:sp>
      <p:sp>
        <p:nvSpPr>
          <p:cNvPr id="12" name="TextBox 11"/>
          <p:cNvSpPr txBox="1"/>
          <p:nvPr/>
        </p:nvSpPr>
        <p:spPr>
          <a:xfrm>
            <a:off x="685800" y="5486400"/>
            <a:ext cx="10515600" cy="411480"/>
          </a:xfrm>
          <a:prstGeom prst="rect">
            <a:avLst/>
          </a:prstGeom>
          <a:noFill/>
        </p:spPr>
        <p:txBody>
          <a:bodyPr wrap="square" lIns="18288" rIns="18288" tIns="13716" bIns="13716">
            <a:spAutoFit/>
          </a:bodyPr>
          <a:lstStyle/>
          <a:p>
            <a:pPr>
              <a:spcAft>
                <a:spcPts val="800"/>
              </a:spcAft>
              <a:defRPr sz="2000" b="0">
                <a:solidFill>
                  <a:srgbClr val="203546"/>
                </a:solidFill>
                <a:latin typeface="Liberation Sans"/>
              </a:defRPr>
            </a:pPr>
            <a:r>
              <a:t>Qwen2.5-VL-7B-Instruct · also evaluated at 3B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SketchJudge rewards a textual style</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05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p.4, §2.2; p.14, App.D.2; p.7, Table3d</a:t>
            </a:r>
          </a:p>
        </p:txBody>
      </p:sp>
      <p:sp>
        <p:nvSpPr>
          <p:cNvPr id="7" name="TextBox 6"/>
          <p:cNvSpPr txBox="1"/>
          <p:nvPr/>
        </p:nvSpPr>
        <p:spPr>
          <a:xfrm>
            <a:off x="731520" y="1828800"/>
            <a:ext cx="4572000" cy="457200"/>
          </a:xfrm>
          <a:prstGeom prst="rect">
            <a:avLst/>
          </a:prstGeom>
          <a:noFill/>
        </p:spPr>
        <p:txBody>
          <a:bodyPr wrap="square" lIns="18288" rIns="18288" tIns="13716" bIns="13716">
            <a:spAutoFit/>
          </a:bodyPr>
          <a:lstStyle/>
          <a:p>
            <a:pPr>
              <a:spcAft>
                <a:spcPts val="800"/>
              </a:spcAft>
              <a:defRPr sz="2500" b="1">
                <a:solidFill>
                  <a:srgbClr val="203546"/>
                </a:solidFill>
                <a:latin typeface="Liberation Sans"/>
              </a:defRPr>
            </a:pPr>
            <a:r>
              <a:t>Original long trace</a:t>
            </a:r>
          </a:p>
        </p:txBody>
      </p:sp>
      <p:sp>
        <p:nvSpPr>
          <p:cNvPr id="8" name="TextBox 7"/>
          <p:cNvSpPr txBox="1"/>
          <p:nvPr/>
        </p:nvSpPr>
        <p:spPr>
          <a:xfrm>
            <a:off x="731520" y="2880360"/>
            <a:ext cx="4572000" cy="457200"/>
          </a:xfrm>
          <a:prstGeom prst="rect">
            <a:avLst/>
          </a:prstGeom>
          <a:noFill/>
        </p:spPr>
        <p:txBody>
          <a:bodyPr wrap="square" lIns="18288" rIns="18288" tIns="13716" bIns="13716">
            <a:spAutoFit/>
          </a:bodyPr>
          <a:lstStyle/>
          <a:p>
            <a:pPr>
              <a:spcAft>
                <a:spcPts val="800"/>
              </a:spcAft>
              <a:defRPr sz="2500" b="1">
                <a:solidFill>
                  <a:srgbClr val="087F8C"/>
                </a:solidFill>
                <a:latin typeface="Liberation Sans"/>
              </a:defRPr>
            </a:pPr>
            <a:r>
              <a:t>Rewritten sketch</a:t>
            </a:r>
          </a:p>
        </p:txBody>
      </p:sp>
      <p:sp>
        <p:nvSpPr>
          <p:cNvPr id="9" name="TextBox 8"/>
          <p:cNvSpPr txBox="1"/>
          <p:nvPr/>
        </p:nvSpPr>
        <p:spPr>
          <a:xfrm>
            <a:off x="4663440" y="1828800"/>
            <a:ext cx="1828800" cy="457200"/>
          </a:xfrm>
          <a:prstGeom prst="rect">
            <a:avLst/>
          </a:prstGeom>
          <a:noFill/>
        </p:spPr>
        <p:txBody>
          <a:bodyPr wrap="square" lIns="18288" rIns="18288" tIns="13716" bIns="13716">
            <a:spAutoFit/>
          </a:bodyPr>
          <a:lstStyle/>
          <a:p>
            <a:pPr>
              <a:spcAft>
                <a:spcPts val="800"/>
              </a:spcAft>
              <a:defRPr sz="2500" b="0">
                <a:solidFill>
                  <a:srgbClr val="203546"/>
                </a:solidFill>
                <a:latin typeface="Liberation Sans"/>
              </a:defRPr>
            </a:pPr>
            <a:r>
              <a:t>Label 0</a:t>
            </a:r>
          </a:p>
        </p:txBody>
      </p:sp>
      <p:sp>
        <p:nvSpPr>
          <p:cNvPr id="10" name="TextBox 9"/>
          <p:cNvSpPr txBox="1"/>
          <p:nvPr/>
        </p:nvSpPr>
        <p:spPr>
          <a:xfrm>
            <a:off x="4663440" y="2880360"/>
            <a:ext cx="1828800" cy="457200"/>
          </a:xfrm>
          <a:prstGeom prst="rect">
            <a:avLst/>
          </a:prstGeom>
          <a:noFill/>
        </p:spPr>
        <p:txBody>
          <a:bodyPr wrap="square" lIns="18288" rIns="18288" tIns="13716" bIns="13716">
            <a:spAutoFit/>
          </a:bodyPr>
          <a:lstStyle/>
          <a:p>
            <a:pPr>
              <a:spcAft>
                <a:spcPts val="800"/>
              </a:spcAft>
              <a:defRPr sz="2500" b="0">
                <a:solidFill>
                  <a:srgbClr val="087F8C"/>
                </a:solidFill>
                <a:latin typeface="Liberation Sans"/>
              </a:defRPr>
            </a:pPr>
            <a:r>
              <a:t>Label 1</a:t>
            </a:r>
          </a:p>
        </p:txBody>
      </p:sp>
      <p:sp>
        <p:nvSpPr>
          <p:cNvPr id="11" name="Rectangle 10"/>
          <p:cNvSpPr/>
          <p:nvPr/>
        </p:nvSpPr>
        <p:spPr>
          <a:xfrm>
            <a:off x="7315200" y="1737360"/>
            <a:ext cx="4069080" cy="2331720"/>
          </a:xfrm>
          <a:prstGeom prst="rect">
            <a:avLst/>
          </a:prstGeom>
          <a:solidFill>
            <a:srgbClr val="EE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2011680"/>
            <a:ext cx="3657600" cy="457200"/>
          </a:xfrm>
          <a:prstGeom prst="rect">
            <a:avLst/>
          </a:prstGeom>
          <a:noFill/>
        </p:spPr>
        <p:txBody>
          <a:bodyPr wrap="square" lIns="18288" rIns="18288" tIns="13716" bIns="13716">
            <a:spAutoFit/>
          </a:bodyPr>
          <a:lstStyle/>
          <a:p>
            <a:pPr>
              <a:spcAft>
                <a:spcPts val="800"/>
              </a:spcAft>
              <a:defRPr sz="2200" b="1">
                <a:solidFill>
                  <a:srgbClr val="087F8C"/>
                </a:solidFill>
                <a:latin typeface="Liberation Sans"/>
              </a:defRPr>
            </a:pPr>
            <a:r>
              <a:t>Qwen2.5-7B-Instruct</a:t>
            </a:r>
          </a:p>
        </p:txBody>
      </p:sp>
      <p:sp>
        <p:nvSpPr>
          <p:cNvPr id="13" name="TextBox 12"/>
          <p:cNvSpPr txBox="1"/>
          <p:nvPr/>
        </p:nvSpPr>
        <p:spPr>
          <a:xfrm>
            <a:off x="7498079" y="2743200"/>
            <a:ext cx="3657600" cy="1051560"/>
          </a:xfrm>
          <a:prstGeom prst="rect">
            <a:avLst/>
          </a:prstGeom>
          <a:noFill/>
        </p:spPr>
        <p:txBody>
          <a:bodyPr wrap="square" lIns="18288" rIns="18288" tIns="13716" bIns="13716">
            <a:spAutoFit/>
          </a:bodyPr>
          <a:lstStyle/>
          <a:p>
            <a:pPr>
              <a:spcAft>
                <a:spcPts val="800"/>
              </a:spcAft>
              <a:defRPr sz="2000" b="0">
                <a:solidFill>
                  <a:srgbClr val="203546"/>
                </a:solidFill>
                <a:latin typeface="Liberation Sans"/>
              </a:defRPr>
            </a:pPr>
            <a:r>
              <a:t>40K labeled thinking traces</a:t>
            </a:r>
          </a:p>
          <a:p>
            <a:pPr>
              <a:spcAft>
                <a:spcPts val="800"/>
              </a:spcAft>
              <a:defRPr sz="2000" b="0">
                <a:solidFill>
                  <a:srgbClr val="203546"/>
                </a:solidFill>
                <a:latin typeface="Liberation Sans"/>
              </a:defRPr>
            </a:pPr>
            <a:r>
              <a:t>Binary style judgment</a:t>
            </a:r>
          </a:p>
        </p:txBody>
      </p:sp>
      <p:sp>
        <p:nvSpPr>
          <p:cNvPr id="14" name="Rectangle 13"/>
          <p:cNvSpPr/>
          <p:nvPr/>
        </p:nvSpPr>
        <p:spPr>
          <a:xfrm>
            <a:off x="685800" y="4572000"/>
            <a:ext cx="10789920" cy="1097280"/>
          </a:xfrm>
          <a:prstGeom prst="rect">
            <a:avLst/>
          </a:prstGeom>
          <a:solidFill>
            <a:srgbClr val="EE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663440"/>
            <a:ext cx="10058400" cy="411480"/>
          </a:xfrm>
          <a:prstGeom prst="rect">
            <a:avLst/>
          </a:prstGeom>
          <a:noFill/>
        </p:spPr>
        <p:txBody>
          <a:bodyPr wrap="square" lIns="18288" rIns="18288" tIns="13716" bIns="13716">
            <a:spAutoFit/>
          </a:bodyPr>
          <a:lstStyle/>
          <a:p>
            <a:pPr>
              <a:spcAft>
                <a:spcPts val="800"/>
              </a:spcAft>
              <a:defRPr sz="2700" b="1">
                <a:solidFill>
                  <a:srgbClr val="087F8C"/>
                </a:solidFill>
                <a:latin typeface="Liberation Sans"/>
              </a:defRPr>
            </a:pPr>
            <a:r>
              <a:t>Judge input: thinking text only</a:t>
            </a:r>
          </a:p>
        </p:txBody>
      </p:sp>
      <p:sp>
        <p:nvSpPr>
          <p:cNvPr id="16" name="TextBox 15"/>
          <p:cNvSpPr txBox="1"/>
          <p:nvPr/>
        </p:nvSpPr>
        <p:spPr>
          <a:xfrm>
            <a:off x="868680" y="5230368"/>
            <a:ext cx="10058400" cy="320040"/>
          </a:xfrm>
          <a:prstGeom prst="rect">
            <a:avLst/>
          </a:prstGeom>
          <a:noFill/>
        </p:spPr>
        <p:txBody>
          <a:bodyPr wrap="square" lIns="18288" rIns="18288" tIns="13716" bIns="13716">
            <a:spAutoFit/>
          </a:bodyPr>
          <a:lstStyle/>
          <a:p>
            <a:pPr>
              <a:spcAft>
                <a:spcPts val="800"/>
              </a:spcAft>
              <a:defRPr sz="1900" b="0">
                <a:solidFill>
                  <a:srgbClr val="203546"/>
                </a:solidFill>
                <a:latin typeface="Liberation Sans"/>
              </a:defRPr>
            </a:pPr>
            <a:r>
              <a:t>Sees neither the image nor the question</a:t>
            </a:r>
          </a:p>
        </p:txBody>
      </p:sp>
      <p:sp>
        <p:nvSpPr>
          <p:cNvPr id="17" name="TextBox 16"/>
          <p:cNvSpPr txBox="1"/>
          <p:nvPr/>
        </p:nvSpPr>
        <p:spPr>
          <a:xfrm>
            <a:off x="868680" y="5797296"/>
            <a:ext cx="10058400" cy="365760"/>
          </a:xfrm>
          <a:prstGeom prst="rect">
            <a:avLst/>
          </a:prstGeom>
          <a:noFill/>
        </p:spPr>
        <p:txBody>
          <a:bodyPr wrap="square" lIns="18288" rIns="18288" tIns="13716" bIns="13716">
            <a:spAutoFit/>
          </a:bodyPr>
          <a:lstStyle/>
          <a:p>
            <a:pPr>
              <a:spcAft>
                <a:spcPts val="800"/>
              </a:spcAft>
              <a:defRPr sz="2300" b="1">
                <a:solidFill>
                  <a:srgbClr val="B85341"/>
                </a:solidFill>
                <a:latin typeface="Liberation Sans"/>
              </a:defRPr>
            </a:pPr>
            <a:r>
              <a:t>Style label ≠ verified visual support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RL balances correctness, format, and thinking style</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06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p.4, Eqs.2–6; p.5, §3</a:t>
            </a:r>
          </a:p>
        </p:txBody>
      </p:sp>
      <p:sp>
        <p:nvSpPr>
          <p:cNvPr id="7" name="TextBox 6"/>
          <p:cNvSpPr txBox="1"/>
          <p:nvPr/>
        </p:nvSpPr>
        <p:spPr>
          <a:xfrm>
            <a:off x="594360" y="1810512"/>
            <a:ext cx="11064240" cy="640080"/>
          </a:xfrm>
          <a:prstGeom prst="rect">
            <a:avLst/>
          </a:prstGeom>
          <a:noFill/>
        </p:spPr>
        <p:txBody>
          <a:bodyPr wrap="square" lIns="18288" rIns="18288" tIns="13716" bIns="13716">
            <a:spAutoFit/>
          </a:bodyPr>
          <a:lstStyle/>
          <a:p>
            <a:pPr>
              <a:spcAft>
                <a:spcPts val="800"/>
              </a:spcAft>
              <a:defRPr sz="2900" b="1">
                <a:solidFill>
                  <a:srgbClr val="087F8C"/>
                </a:solidFill>
                <a:latin typeface="Liberation Sans"/>
              </a:defRPr>
            </a:pPr>
            <a:r>
              <a:t>R = 0.5 accuracy + 0.4 format + 0.1 thinking-style</a:t>
            </a:r>
          </a:p>
        </p:txBody>
      </p:sp>
      <p:graphicFrame>
        <p:nvGraphicFramePr>
          <p:cNvPr id="8" name="Table 7"/>
          <p:cNvGraphicFramePr>
            <a:graphicFrameLocks noGrp="1"/>
          </p:cNvGraphicFramePr>
          <p:nvPr/>
        </p:nvGraphicFramePr>
        <p:xfrm>
          <a:off x="640080" y="2743200"/>
          <a:ext cx="10881360" cy="1645920"/>
        </p:xfrm>
        <a:graphic>
          <a:graphicData uri="http://schemas.openxmlformats.org/drawingml/2006/table">
            <a:tbl>
              <a:tblPr firstRow="1" bandRow="1">
                <a:tableStyleId>{5C22544A-7EE6-4342-B048-85BDC9FD1C3A}</a:tableStyleId>
              </a:tblPr>
              <a:tblGrid>
                <a:gridCol w="5486400"/>
                <a:gridCol w="1280160"/>
                <a:gridCol w="1280160"/>
                <a:gridCol w="1280160"/>
                <a:gridCol w="1554480"/>
              </a:tblGrid>
              <a:tr h="548640">
                <a:tc>
                  <a:txBody>
                    <a:bodyPr/>
                    <a:lstStyle/>
                    <a:p>
                      <a:pPr>
                        <a:defRPr sz="1800" b="1">
                          <a:solidFill>
                            <a:srgbClr val="FFFFFF"/>
                          </a:solidFill>
                          <a:latin typeface="Liberation Sans"/>
                        </a:defRPr>
                      </a:pPr>
                      <a:r>
                        <a:t>Illustrative response</a:t>
                      </a:r>
                    </a:p>
                  </a:txBody>
                  <a:tcPr marL="109728" marR="73152" marT="54864" marB="36576" anchor="ctr">
                    <a:solidFill>
                      <a:srgbClr val="112B43"/>
                    </a:solidFill>
                  </a:tcPr>
                </a:tc>
                <a:tc>
                  <a:txBody>
                    <a:bodyPr/>
                    <a:lstStyle/>
                    <a:p>
                      <a:pPr>
                        <a:defRPr sz="1800" b="1">
                          <a:solidFill>
                            <a:srgbClr val="FFFFFF"/>
                          </a:solidFill>
                          <a:latin typeface="Liberation Sans"/>
                        </a:defRPr>
                      </a:pPr>
                      <a:r>
                        <a:t>Accuracy</a:t>
                      </a:r>
                    </a:p>
                  </a:txBody>
                  <a:tcPr marL="109728" marR="73152" marT="54864" marB="36576" anchor="ctr">
                    <a:solidFill>
                      <a:srgbClr val="112B43"/>
                    </a:solidFill>
                  </a:tcPr>
                </a:tc>
                <a:tc>
                  <a:txBody>
                    <a:bodyPr/>
                    <a:lstStyle/>
                    <a:p>
                      <a:pPr>
                        <a:defRPr sz="1800" b="1">
                          <a:solidFill>
                            <a:srgbClr val="FFFFFF"/>
                          </a:solidFill>
                          <a:latin typeface="Liberation Sans"/>
                        </a:defRPr>
                      </a:pPr>
                      <a:r>
                        <a:t>Format</a:t>
                      </a:r>
                    </a:p>
                  </a:txBody>
                  <a:tcPr marL="109728" marR="73152" marT="54864" marB="36576" anchor="ctr">
                    <a:solidFill>
                      <a:srgbClr val="112B43"/>
                    </a:solidFill>
                  </a:tcPr>
                </a:tc>
                <a:tc>
                  <a:txBody>
                    <a:bodyPr/>
                    <a:lstStyle/>
                    <a:p>
                      <a:pPr>
                        <a:defRPr sz="1800" b="1">
                          <a:solidFill>
                            <a:srgbClr val="FFFFFF"/>
                          </a:solidFill>
                          <a:latin typeface="Liberation Sans"/>
                        </a:defRPr>
                      </a:pPr>
                      <a:r>
                        <a:t>Style</a:t>
                      </a:r>
                    </a:p>
                  </a:txBody>
                  <a:tcPr marL="109728" marR="73152" marT="54864" marB="36576" anchor="ctr">
                    <a:solidFill>
                      <a:srgbClr val="112B43"/>
                    </a:solidFill>
                  </a:tcPr>
                </a:tc>
                <a:tc>
                  <a:txBody>
                    <a:bodyPr/>
                    <a:lstStyle/>
                    <a:p>
                      <a:pPr>
                        <a:defRPr sz="1800" b="1">
                          <a:solidFill>
                            <a:srgbClr val="FFFFFF"/>
                          </a:solidFill>
                          <a:latin typeface="Liberation Sans"/>
                        </a:defRPr>
                      </a:pPr>
                      <a:r>
                        <a:t>Reward</a:t>
                      </a:r>
                    </a:p>
                  </a:txBody>
                  <a:tcPr marL="109728" marR="73152" marT="54864" marB="36576" anchor="ctr">
                    <a:solidFill>
                      <a:srgbClr val="112B43"/>
                    </a:solidFill>
                  </a:tcPr>
                </a:tc>
              </a:tr>
              <a:tr h="548640">
                <a:tc>
                  <a:txBody>
                    <a:bodyPr/>
                    <a:lstStyle/>
                    <a:p>
                      <a:pPr>
                        <a:defRPr sz="1800" b="0">
                          <a:solidFill>
                            <a:srgbClr val="203546"/>
                          </a:solidFill>
                          <a:latin typeface="Liberation Sans"/>
                        </a:defRPr>
                      </a:pPr>
                      <a:r>
                        <a:t>Correct, valid format, sketch</a:t>
                      </a:r>
                    </a:p>
                  </a:txBody>
                  <a:tcPr marL="109728" marR="73152" marT="54864" marB="36576" anchor="ctr">
                    <a:solidFill>
                      <a:srgbClr val="EEF4F6"/>
                    </a:solidFill>
                  </a:tcPr>
                </a:tc>
                <a:tc>
                  <a:txBody>
                    <a:bodyPr/>
                    <a:lstStyle/>
                    <a:p>
                      <a:pPr>
                        <a:defRPr sz="1800" b="0">
                          <a:solidFill>
                            <a:srgbClr val="203546"/>
                          </a:solidFill>
                          <a:latin typeface="Liberation Sans"/>
                        </a:defRPr>
                      </a:pPr>
                      <a:r>
                        <a:t>1</a:t>
                      </a:r>
                    </a:p>
                  </a:txBody>
                  <a:tcPr marL="109728" marR="73152" marT="54864" marB="36576" anchor="ctr">
                    <a:solidFill>
                      <a:srgbClr val="EEF4F6"/>
                    </a:solidFill>
                  </a:tcPr>
                </a:tc>
                <a:tc>
                  <a:txBody>
                    <a:bodyPr/>
                    <a:lstStyle/>
                    <a:p>
                      <a:pPr>
                        <a:defRPr sz="1800" b="0">
                          <a:solidFill>
                            <a:srgbClr val="203546"/>
                          </a:solidFill>
                          <a:latin typeface="Liberation Sans"/>
                        </a:defRPr>
                      </a:pPr>
                      <a:r>
                        <a:t>1</a:t>
                      </a:r>
                    </a:p>
                  </a:txBody>
                  <a:tcPr marL="109728" marR="73152" marT="54864" marB="36576" anchor="ctr">
                    <a:solidFill>
                      <a:srgbClr val="EEF4F6"/>
                    </a:solidFill>
                  </a:tcPr>
                </a:tc>
                <a:tc>
                  <a:txBody>
                    <a:bodyPr/>
                    <a:lstStyle/>
                    <a:p>
                      <a:pPr>
                        <a:defRPr sz="1800" b="0">
                          <a:solidFill>
                            <a:srgbClr val="203546"/>
                          </a:solidFill>
                          <a:latin typeface="Liberation Sans"/>
                        </a:defRPr>
                      </a:pPr>
                      <a:r>
                        <a:t>1</a:t>
                      </a:r>
                    </a:p>
                  </a:txBody>
                  <a:tcPr marL="109728" marR="73152" marT="54864" marB="36576" anchor="ctr">
                    <a:solidFill>
                      <a:srgbClr val="EEF4F6"/>
                    </a:solidFill>
                  </a:tcPr>
                </a:tc>
                <a:tc>
                  <a:txBody>
                    <a:bodyPr/>
                    <a:lstStyle/>
                    <a:p>
                      <a:pPr>
                        <a:defRPr sz="1800" b="0">
                          <a:solidFill>
                            <a:srgbClr val="203546"/>
                          </a:solidFill>
                          <a:latin typeface="Liberation Sans"/>
                        </a:defRPr>
                      </a:pPr>
                      <a:r>
                        <a:t>1.0</a:t>
                      </a:r>
                    </a:p>
                  </a:txBody>
                  <a:tcPr marL="109728" marR="73152" marT="54864" marB="36576" anchor="ctr">
                    <a:solidFill>
                      <a:srgbClr val="EEF4F6"/>
                    </a:solidFill>
                  </a:tcPr>
                </a:tc>
              </a:tr>
              <a:tr h="548640">
                <a:tc>
                  <a:txBody>
                    <a:bodyPr/>
                    <a:lstStyle/>
                    <a:p>
                      <a:pPr>
                        <a:defRPr sz="1800" b="0">
                          <a:solidFill>
                            <a:srgbClr val="203546"/>
                          </a:solidFill>
                          <a:latin typeface="Liberation Sans"/>
                        </a:defRPr>
                      </a:pPr>
                      <a:r>
                        <a:t>Wrong, valid format, sketch</a:t>
                      </a:r>
                    </a:p>
                  </a:txBody>
                  <a:tcPr marL="109728" marR="73152" marT="54864" marB="36576" anchor="ctr">
                    <a:solidFill>
                      <a:srgbClr val="FFFFFF"/>
                    </a:solidFill>
                  </a:tcPr>
                </a:tc>
                <a:tc>
                  <a:txBody>
                    <a:bodyPr/>
                    <a:lstStyle/>
                    <a:p>
                      <a:pPr>
                        <a:defRPr sz="1800" b="0">
                          <a:solidFill>
                            <a:srgbClr val="203546"/>
                          </a:solidFill>
                          <a:latin typeface="Liberation Sans"/>
                        </a:defRPr>
                      </a:pPr>
                      <a:r>
                        <a:t>0</a:t>
                      </a:r>
                    </a:p>
                  </a:txBody>
                  <a:tcPr marL="109728" marR="73152" marT="54864" marB="36576" anchor="ctr">
                    <a:solidFill>
                      <a:srgbClr val="FFFFFF"/>
                    </a:solidFill>
                  </a:tcPr>
                </a:tc>
                <a:tc>
                  <a:txBody>
                    <a:bodyPr/>
                    <a:lstStyle/>
                    <a:p>
                      <a:pPr>
                        <a:defRPr sz="1800" b="0">
                          <a:solidFill>
                            <a:srgbClr val="203546"/>
                          </a:solidFill>
                          <a:latin typeface="Liberation Sans"/>
                        </a:defRPr>
                      </a:pPr>
                      <a:r>
                        <a:t>1</a:t>
                      </a:r>
                    </a:p>
                  </a:txBody>
                  <a:tcPr marL="109728" marR="73152" marT="54864" marB="36576" anchor="ctr">
                    <a:solidFill>
                      <a:srgbClr val="FFFFFF"/>
                    </a:solidFill>
                  </a:tcPr>
                </a:tc>
                <a:tc>
                  <a:txBody>
                    <a:bodyPr/>
                    <a:lstStyle/>
                    <a:p>
                      <a:pPr>
                        <a:defRPr sz="1800" b="0">
                          <a:solidFill>
                            <a:srgbClr val="203546"/>
                          </a:solidFill>
                          <a:latin typeface="Liberation Sans"/>
                        </a:defRPr>
                      </a:pPr>
                      <a:r>
                        <a:t>1</a:t>
                      </a:r>
                    </a:p>
                  </a:txBody>
                  <a:tcPr marL="109728" marR="73152" marT="54864" marB="36576" anchor="ctr">
                    <a:solidFill>
                      <a:srgbClr val="FFFFFF"/>
                    </a:solidFill>
                  </a:tcPr>
                </a:tc>
                <a:tc>
                  <a:txBody>
                    <a:bodyPr/>
                    <a:lstStyle/>
                    <a:p>
                      <a:pPr>
                        <a:defRPr sz="1800" b="0">
                          <a:solidFill>
                            <a:srgbClr val="203546"/>
                          </a:solidFill>
                          <a:latin typeface="Liberation Sans"/>
                        </a:defRPr>
                      </a:pPr>
                      <a:r>
                        <a:t>0.5</a:t>
                      </a:r>
                    </a:p>
                  </a:txBody>
                  <a:tcPr marL="109728" marR="73152" marT="54864" marB="36576" anchor="ctr">
                    <a:solidFill>
                      <a:srgbClr val="FFFFFF"/>
                    </a:solidFill>
                  </a:tcPr>
                </a:tc>
              </a:tr>
            </a:tbl>
          </a:graphicData>
        </a:graphic>
      </p:graphicFrame>
      <p:sp>
        <p:nvSpPr>
          <p:cNvPr id="9" name="TextBox 8"/>
          <p:cNvSpPr txBox="1"/>
          <p:nvPr/>
        </p:nvSpPr>
        <p:spPr>
          <a:xfrm>
            <a:off x="731520" y="4800600"/>
            <a:ext cx="10698480" cy="548640"/>
          </a:xfrm>
          <a:prstGeom prst="rect">
            <a:avLst/>
          </a:prstGeom>
          <a:noFill/>
        </p:spPr>
        <p:txBody>
          <a:bodyPr wrap="square" lIns="18288" rIns="18288" tIns="13716" bIns="13716">
            <a:spAutoFit/>
          </a:bodyPr>
          <a:lstStyle/>
          <a:p>
            <a:pPr>
              <a:spcAft>
                <a:spcPts val="800"/>
              </a:spcAft>
              <a:defRPr sz="2500" b="1">
                <a:solidFill>
                  <a:srgbClr val="203546"/>
                </a:solidFill>
                <a:latin typeface="Liberation Sans"/>
              </a:defRPr>
            </a:pPr>
            <a:r>
              <a:t>Five rollouts → relative advantages → clipped policy update</a:t>
            </a:r>
          </a:p>
        </p:txBody>
      </p:sp>
      <p:sp>
        <p:nvSpPr>
          <p:cNvPr id="10" name="TextBox 9"/>
          <p:cNvSpPr txBox="1"/>
          <p:nvPr/>
        </p:nvSpPr>
        <p:spPr>
          <a:xfrm>
            <a:off x="731520" y="5623560"/>
            <a:ext cx="10698480" cy="365760"/>
          </a:xfrm>
          <a:prstGeom prst="rect">
            <a:avLst/>
          </a:prstGeom>
          <a:noFill/>
        </p:spPr>
        <p:txBody>
          <a:bodyPr wrap="square" lIns="18288" rIns="18288" tIns="13716" bIns="13716">
            <a:spAutoFit/>
          </a:bodyPr>
          <a:lstStyle/>
          <a:p>
            <a:pPr>
              <a:spcAft>
                <a:spcPts val="800"/>
              </a:spcAft>
              <a:defRPr sz="2100" b="0">
                <a:solidFill>
                  <a:srgbClr val="203546"/>
                </a:solidFill>
                <a:latin typeface="Liberation Sans"/>
              </a:defRPr>
            </a:pPr>
            <a:r>
              <a:t>KL penalty anchors the policy · no default token penalty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Evaluate answer quality and reasoning cost separately</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07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p.5, §3; p.6, Tables1–2</a:t>
            </a:r>
          </a:p>
        </p:txBody>
      </p:sp>
      <p:graphicFrame>
        <p:nvGraphicFramePr>
          <p:cNvPr id="7" name="Table 6"/>
          <p:cNvGraphicFramePr>
            <a:graphicFrameLocks noGrp="1"/>
          </p:cNvGraphicFramePr>
          <p:nvPr/>
        </p:nvGraphicFramePr>
        <p:xfrm>
          <a:off x="594360" y="1737360"/>
          <a:ext cx="5760720" cy="3291840"/>
        </p:xfrm>
        <a:graphic>
          <a:graphicData uri="http://schemas.openxmlformats.org/drawingml/2006/table">
            <a:tbl>
              <a:tblPr firstRow="1" bandRow="1">
                <a:tableStyleId>{5C22544A-7EE6-4342-B048-85BDC9FD1C3A}</a:tableStyleId>
              </a:tblPr>
              <a:tblGrid>
                <a:gridCol w="3200400"/>
                <a:gridCol w="2560320"/>
              </a:tblGrid>
              <a:tr h="658368">
                <a:tc>
                  <a:txBody>
                    <a:bodyPr/>
                    <a:lstStyle/>
                    <a:p>
                      <a:pPr>
                        <a:defRPr sz="2100" b="1">
                          <a:solidFill>
                            <a:srgbClr val="FFFFFF"/>
                          </a:solidFill>
                          <a:latin typeface="Liberation Sans"/>
                        </a:defRPr>
                      </a:pPr>
                      <a:r>
                        <a:t>Evaluation domain</a:t>
                      </a:r>
                    </a:p>
                  </a:txBody>
                  <a:tcPr marL="109728" marR="73152" marT="54864" marB="36576" anchor="ctr">
                    <a:solidFill>
                      <a:srgbClr val="112B43"/>
                    </a:solidFill>
                  </a:tcPr>
                </a:tc>
                <a:tc>
                  <a:txBody>
                    <a:bodyPr/>
                    <a:lstStyle/>
                    <a:p>
                      <a:pPr>
                        <a:defRPr sz="2100" b="1">
                          <a:solidFill>
                            <a:srgbClr val="FFFFFF"/>
                          </a:solidFill>
                          <a:latin typeface="Liberation Sans"/>
                        </a:defRPr>
                      </a:pPr>
                      <a:r>
                        <a:t>Benchmark</a:t>
                      </a:r>
                    </a:p>
                  </a:txBody>
                  <a:tcPr marL="109728" marR="73152" marT="54864" marB="36576" anchor="ctr">
                    <a:solidFill>
                      <a:srgbClr val="112B43"/>
                    </a:solidFill>
                  </a:tcPr>
                </a:tc>
              </a:tr>
              <a:tr h="658368">
                <a:tc>
                  <a:txBody>
                    <a:bodyPr/>
                    <a:lstStyle/>
                    <a:p>
                      <a:pPr>
                        <a:defRPr sz="2100" b="0">
                          <a:solidFill>
                            <a:srgbClr val="203546"/>
                          </a:solidFill>
                          <a:latin typeface="Liberation Sans"/>
                        </a:defRPr>
                      </a:pPr>
                      <a:r>
                        <a:t>Broad reasoning</a:t>
                      </a:r>
                    </a:p>
                  </a:txBody>
                  <a:tcPr marL="109728" marR="73152" marT="54864" marB="36576" anchor="ctr">
                    <a:solidFill>
                      <a:srgbClr val="EEF4F6"/>
                    </a:solidFill>
                  </a:tcPr>
                </a:tc>
                <a:tc>
                  <a:txBody>
                    <a:bodyPr/>
                    <a:lstStyle/>
                    <a:p>
                      <a:pPr>
                        <a:defRPr sz="2100" b="0">
                          <a:solidFill>
                            <a:srgbClr val="203546"/>
                          </a:solidFill>
                          <a:latin typeface="Liberation Sans"/>
                        </a:defRPr>
                      </a:pPr>
                      <a:r>
                        <a:t>MMMU</a:t>
                      </a:r>
                    </a:p>
                  </a:txBody>
                  <a:tcPr marL="109728" marR="73152" marT="54864" marB="36576" anchor="ctr">
                    <a:solidFill>
                      <a:srgbClr val="EEF4F6"/>
                    </a:solidFill>
                  </a:tcPr>
                </a:tc>
              </a:tr>
              <a:tr h="658368">
                <a:tc>
                  <a:txBody>
                    <a:bodyPr/>
                    <a:lstStyle/>
                    <a:p>
                      <a:pPr>
                        <a:defRPr sz="2100" b="0">
                          <a:solidFill>
                            <a:srgbClr val="203546"/>
                          </a:solidFill>
                          <a:latin typeface="Liberation Sans"/>
                        </a:defRPr>
                      </a:pPr>
                      <a:r>
                        <a:t>Visual mathematics</a:t>
                      </a:r>
                    </a:p>
                  </a:txBody>
                  <a:tcPr marL="109728" marR="73152" marT="54864" marB="36576" anchor="ctr">
                    <a:solidFill>
                      <a:srgbClr val="FFFFFF"/>
                    </a:solidFill>
                  </a:tcPr>
                </a:tc>
                <a:tc>
                  <a:txBody>
                    <a:bodyPr/>
                    <a:lstStyle/>
                    <a:p>
                      <a:pPr>
                        <a:defRPr sz="2100" b="0">
                          <a:solidFill>
                            <a:srgbClr val="203546"/>
                          </a:solidFill>
                          <a:latin typeface="Liberation Sans"/>
                        </a:defRPr>
                      </a:pPr>
                      <a:r>
                        <a:t>MATH-Vision</a:t>
                      </a:r>
                    </a:p>
                  </a:txBody>
                  <a:tcPr marL="109728" marR="73152" marT="54864" marB="36576" anchor="ctr">
                    <a:solidFill>
                      <a:srgbClr val="FFFFFF"/>
                    </a:solidFill>
                  </a:tcPr>
                </a:tc>
              </a:tr>
              <a:tr h="658368">
                <a:tc>
                  <a:txBody>
                    <a:bodyPr/>
                    <a:lstStyle/>
                    <a:p>
                      <a:pPr>
                        <a:defRPr sz="2100" b="0">
                          <a:solidFill>
                            <a:srgbClr val="203546"/>
                          </a:solidFill>
                          <a:latin typeface="Liberation Sans"/>
                        </a:defRPr>
                      </a:pPr>
                      <a:r>
                        <a:t>Visual logic</a:t>
                      </a:r>
                    </a:p>
                  </a:txBody>
                  <a:tcPr marL="109728" marR="73152" marT="54864" marB="36576" anchor="ctr">
                    <a:solidFill>
                      <a:srgbClr val="EEF4F6"/>
                    </a:solidFill>
                  </a:tcPr>
                </a:tc>
                <a:tc>
                  <a:txBody>
                    <a:bodyPr/>
                    <a:lstStyle/>
                    <a:p>
                      <a:pPr>
                        <a:defRPr sz="2100" b="0">
                          <a:solidFill>
                            <a:srgbClr val="203546"/>
                          </a:solidFill>
                          <a:latin typeface="Liberation Sans"/>
                        </a:defRPr>
                      </a:pPr>
                      <a:r>
                        <a:t>VisuLogic</a:t>
                      </a:r>
                    </a:p>
                  </a:txBody>
                  <a:tcPr marL="109728" marR="73152" marT="54864" marB="36576" anchor="ctr">
                    <a:solidFill>
                      <a:srgbClr val="EEF4F6"/>
                    </a:solidFill>
                  </a:tcPr>
                </a:tc>
              </a:tr>
              <a:tr h="658368">
                <a:tc>
                  <a:txBody>
                    <a:bodyPr/>
                    <a:lstStyle/>
                    <a:p>
                      <a:pPr>
                        <a:defRPr sz="2100" b="0">
                          <a:solidFill>
                            <a:srgbClr val="203546"/>
                          </a:solidFill>
                          <a:latin typeface="Liberation Sans"/>
                        </a:defRPr>
                      </a:pPr>
                      <a:r>
                        <a:t>Visual physics</a:t>
                      </a:r>
                    </a:p>
                  </a:txBody>
                  <a:tcPr marL="109728" marR="73152" marT="54864" marB="36576" anchor="ctr">
                    <a:solidFill>
                      <a:srgbClr val="FFFFFF"/>
                    </a:solidFill>
                  </a:tcPr>
                </a:tc>
                <a:tc>
                  <a:txBody>
                    <a:bodyPr/>
                    <a:lstStyle/>
                    <a:p>
                      <a:pPr>
                        <a:defRPr sz="2100" b="0">
                          <a:solidFill>
                            <a:srgbClr val="203546"/>
                          </a:solidFill>
                          <a:latin typeface="Liberation Sans"/>
                        </a:defRPr>
                      </a:pPr>
                      <a:r>
                        <a:t>PhyX</a:t>
                      </a:r>
                    </a:p>
                  </a:txBody>
                  <a:tcPr marL="109728" marR="73152" marT="54864" marB="36576" anchor="ctr">
                    <a:solidFill>
                      <a:srgbClr val="FFFFFF"/>
                    </a:solidFill>
                  </a:tcPr>
                </a:tc>
              </a:tr>
            </a:tbl>
          </a:graphicData>
        </a:graphic>
      </p:graphicFrame>
      <p:sp>
        <p:nvSpPr>
          <p:cNvPr id="8" name="TextBox 7"/>
          <p:cNvSpPr txBox="1"/>
          <p:nvPr/>
        </p:nvSpPr>
        <p:spPr>
          <a:xfrm>
            <a:off x="6995160" y="1783080"/>
            <a:ext cx="4389120" cy="457200"/>
          </a:xfrm>
          <a:prstGeom prst="rect">
            <a:avLst/>
          </a:prstGeom>
          <a:noFill/>
        </p:spPr>
        <p:txBody>
          <a:bodyPr wrap="square" lIns="18288" rIns="18288" tIns="13716" bIns="13716">
            <a:spAutoFit/>
          </a:bodyPr>
          <a:lstStyle/>
          <a:p>
            <a:pPr>
              <a:spcAft>
                <a:spcPts val="800"/>
              </a:spcAft>
              <a:defRPr sz="2500" b="1">
                <a:solidFill>
                  <a:srgbClr val="087F8C"/>
                </a:solidFill>
                <a:latin typeface="Liberation Sans"/>
              </a:defRPr>
            </a:pPr>
            <a:r>
              <a:t>Report separately</a:t>
            </a:r>
          </a:p>
        </p:txBody>
      </p:sp>
      <p:sp>
        <p:nvSpPr>
          <p:cNvPr id="9" name="TextBox 8"/>
          <p:cNvSpPr txBox="1"/>
          <p:nvPr/>
        </p:nvSpPr>
        <p:spPr>
          <a:xfrm>
            <a:off x="6995160" y="2468880"/>
            <a:ext cx="4389120" cy="1371600"/>
          </a:xfrm>
          <a:prstGeom prst="rect">
            <a:avLst/>
          </a:prstGeom>
          <a:noFill/>
        </p:spPr>
        <p:txBody>
          <a:bodyPr wrap="square" lIns="18288" rIns="18288" tIns="13716" bIns="13716">
            <a:spAutoFit/>
          </a:bodyPr>
          <a:lstStyle/>
          <a:p>
            <a:pPr>
              <a:spcAft>
                <a:spcPts val="800"/>
              </a:spcAft>
              <a:defRPr sz="2400" b="0">
                <a:solidFill>
                  <a:srgbClr val="203546"/>
                </a:solidFill>
                <a:latin typeface="Liberation Sans"/>
              </a:defRPr>
            </a:pPr>
            <a:r>
              <a:t>Answer accuracy (%)</a:t>
            </a:r>
          </a:p>
          <a:p>
            <a:pPr>
              <a:spcAft>
                <a:spcPts val="800"/>
              </a:spcAft>
              <a:defRPr sz="2400" b="0">
                <a:solidFill>
                  <a:srgbClr val="203546"/>
                </a:solidFill>
                <a:latin typeface="Liberation Sans"/>
              </a:defRPr>
            </a:pPr>
            <a:r>
              <a:t>Average reasoning tokens</a:t>
            </a:r>
          </a:p>
        </p:txBody>
      </p:sp>
      <p:sp>
        <p:nvSpPr>
          <p:cNvPr id="10" name="TextBox 9"/>
          <p:cNvSpPr txBox="1"/>
          <p:nvPr/>
        </p:nvSpPr>
        <p:spPr>
          <a:xfrm>
            <a:off x="6995160" y="4251960"/>
            <a:ext cx="4389120" cy="457200"/>
          </a:xfrm>
          <a:prstGeom prst="rect">
            <a:avLst/>
          </a:prstGeom>
          <a:noFill/>
        </p:spPr>
        <p:txBody>
          <a:bodyPr wrap="square" lIns="18288" rIns="18288" tIns="13716" bIns="13716">
            <a:spAutoFit/>
          </a:bodyPr>
          <a:lstStyle/>
          <a:p>
            <a:pPr>
              <a:spcAft>
                <a:spcPts val="800"/>
              </a:spcAft>
              <a:defRPr sz="2200" b="1">
                <a:solidFill>
                  <a:srgbClr val="203546"/>
                </a:solidFill>
                <a:latin typeface="Liberation Sans"/>
              </a:defRPr>
            </a:pPr>
            <a:r>
              <a:t>EoT = accuracy / tokens</a:t>
            </a:r>
          </a:p>
        </p:txBody>
      </p:sp>
      <p:sp>
        <p:nvSpPr>
          <p:cNvPr id="11" name="TextBox 10"/>
          <p:cNvSpPr txBox="1"/>
          <p:nvPr/>
        </p:nvSpPr>
        <p:spPr>
          <a:xfrm>
            <a:off x="685800" y="5532120"/>
            <a:ext cx="10972800" cy="457200"/>
          </a:xfrm>
          <a:prstGeom prst="rect">
            <a:avLst/>
          </a:prstGeom>
          <a:noFill/>
        </p:spPr>
        <p:txBody>
          <a:bodyPr wrap="square" lIns="18288" rIns="18288" tIns="13716" bIns="13716">
            <a:spAutoFit/>
          </a:bodyPr>
          <a:lstStyle/>
          <a:p>
            <a:pPr>
              <a:spcAft>
                <a:spcPts val="800"/>
              </a:spcAft>
              <a:defRPr sz="2200" b="0">
                <a:solidFill>
                  <a:srgbClr val="203546"/>
                </a:solidFill>
                <a:latin typeface="Liberation Sans"/>
              </a:defRPr>
            </a:pPr>
            <a:r>
              <a:t>RL training: 250 questions × 4 sources = SketchRL-1K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At 7B, tokens fall sharply across all four benchmarks</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08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p.6, Table1; reductions computed from table entries</a:t>
            </a:r>
          </a:p>
        </p:txBody>
      </p:sp>
      <p:pic>
        <p:nvPicPr>
          <p:cNvPr id="7" name="Picture 6" descr="tokens-7b.png"/>
          <p:cNvPicPr>
            <a:picLocks noChangeAspect="1"/>
          </p:cNvPicPr>
          <p:nvPr/>
        </p:nvPicPr>
        <p:blipFill>
          <a:blip r:embed="rId2"/>
          <a:stretch>
            <a:fillRect/>
          </a:stretch>
        </p:blipFill>
        <p:spPr>
          <a:xfrm>
            <a:off x="365760" y="1643198"/>
            <a:ext cx="7772400" cy="4348842"/>
          </a:xfrm>
          <a:prstGeom prst="rect">
            <a:avLst/>
          </a:prstGeom>
        </p:spPr>
      </p:pic>
      <p:graphicFrame>
        <p:nvGraphicFramePr>
          <p:cNvPr id="8" name="Table 7"/>
          <p:cNvGraphicFramePr>
            <a:graphicFrameLocks noGrp="1"/>
          </p:cNvGraphicFramePr>
          <p:nvPr/>
        </p:nvGraphicFramePr>
        <p:xfrm>
          <a:off x="8229600" y="1920240"/>
          <a:ext cx="3520440" cy="3200400"/>
        </p:xfrm>
        <a:graphic>
          <a:graphicData uri="http://schemas.openxmlformats.org/drawingml/2006/table">
            <a:tbl>
              <a:tblPr firstRow="1" bandRow="1">
                <a:tableStyleId>{5C22544A-7EE6-4342-B048-85BDC9FD1C3A}</a:tableStyleId>
              </a:tblPr>
              <a:tblGrid>
                <a:gridCol w="1691640"/>
                <a:gridCol w="914400"/>
                <a:gridCol w="914400"/>
              </a:tblGrid>
              <a:tr h="640080">
                <a:tc>
                  <a:txBody>
                    <a:bodyPr/>
                    <a:lstStyle/>
                    <a:p>
                      <a:pPr>
                        <a:defRPr sz="1600" b="1">
                          <a:solidFill>
                            <a:srgbClr val="FFFFFF"/>
                          </a:solidFill>
                          <a:latin typeface="Liberation Sans"/>
                        </a:defRPr>
                      </a:pPr>
                      <a:r>
                        <a:t>Accuracy (%)</a:t>
                      </a:r>
                    </a:p>
                  </a:txBody>
                  <a:tcPr marL="109728" marR="73152" marT="54864" marB="36576" anchor="ctr">
                    <a:solidFill>
                      <a:srgbClr val="112B43"/>
                    </a:solidFill>
                  </a:tcPr>
                </a:tc>
                <a:tc>
                  <a:txBody>
                    <a:bodyPr/>
                    <a:lstStyle/>
                    <a:p>
                      <a:pPr>
                        <a:defRPr sz="1600" b="1">
                          <a:solidFill>
                            <a:srgbClr val="FFFFFF"/>
                          </a:solidFill>
                          <a:latin typeface="Liberation Sans"/>
                        </a:defRPr>
                      </a:pPr>
                      <a:r>
                        <a:t>Vanilla</a:t>
                      </a:r>
                    </a:p>
                  </a:txBody>
                  <a:tcPr marL="109728" marR="73152" marT="54864" marB="36576" anchor="ctr">
                    <a:solidFill>
                      <a:srgbClr val="112B43"/>
                    </a:solidFill>
                  </a:tcPr>
                </a:tc>
                <a:tc>
                  <a:txBody>
                    <a:bodyPr/>
                    <a:lstStyle/>
                    <a:p>
                      <a:pPr>
                        <a:defRPr sz="1600" b="1">
                          <a:solidFill>
                            <a:srgbClr val="FFFFFF"/>
                          </a:solidFill>
                          <a:latin typeface="Liberation Sans"/>
                        </a:defRPr>
                      </a:pPr>
                      <a:r>
                        <a:t>Sketch</a:t>
                      </a:r>
                    </a:p>
                  </a:txBody>
                  <a:tcPr marL="109728" marR="73152" marT="54864" marB="36576" anchor="ctr">
                    <a:solidFill>
                      <a:srgbClr val="112B43"/>
                    </a:solidFill>
                  </a:tcPr>
                </a:tc>
              </a:tr>
              <a:tr h="640080">
                <a:tc>
                  <a:txBody>
                    <a:bodyPr/>
                    <a:lstStyle/>
                    <a:p>
                      <a:pPr>
                        <a:defRPr sz="1600" b="0">
                          <a:solidFill>
                            <a:srgbClr val="203546"/>
                          </a:solidFill>
                          <a:latin typeface="Liberation Sans"/>
                        </a:defRPr>
                      </a:pPr>
                      <a:r>
                        <a:t>MMMU</a:t>
                      </a:r>
                    </a:p>
                  </a:txBody>
                  <a:tcPr marL="109728" marR="73152" marT="54864" marB="36576" anchor="ctr">
                    <a:solidFill>
                      <a:srgbClr val="EEF4F6"/>
                    </a:solidFill>
                  </a:tcPr>
                </a:tc>
                <a:tc>
                  <a:txBody>
                    <a:bodyPr/>
                    <a:lstStyle/>
                    <a:p>
                      <a:pPr>
                        <a:defRPr sz="1600" b="0">
                          <a:solidFill>
                            <a:srgbClr val="203546"/>
                          </a:solidFill>
                          <a:latin typeface="Liberation Sans"/>
                        </a:defRPr>
                      </a:pPr>
                      <a:r>
                        <a:t>61.0</a:t>
                      </a:r>
                    </a:p>
                  </a:txBody>
                  <a:tcPr marL="109728" marR="73152" marT="54864" marB="36576" anchor="ctr">
                    <a:solidFill>
                      <a:srgbClr val="EEF4F6"/>
                    </a:solidFill>
                  </a:tcPr>
                </a:tc>
                <a:tc>
                  <a:txBody>
                    <a:bodyPr/>
                    <a:lstStyle/>
                    <a:p>
                      <a:pPr>
                        <a:defRPr sz="1600" b="0">
                          <a:solidFill>
                            <a:srgbClr val="203546"/>
                          </a:solidFill>
                          <a:latin typeface="Liberation Sans"/>
                        </a:defRPr>
                      </a:pPr>
                      <a:r>
                        <a:t>62.8</a:t>
                      </a:r>
                    </a:p>
                  </a:txBody>
                  <a:tcPr marL="109728" marR="73152" marT="54864" marB="36576" anchor="ctr">
                    <a:solidFill>
                      <a:srgbClr val="EEF4F6"/>
                    </a:solidFill>
                  </a:tcPr>
                </a:tc>
              </a:tr>
              <a:tr h="640080">
                <a:tc>
                  <a:txBody>
                    <a:bodyPr/>
                    <a:lstStyle/>
                    <a:p>
                      <a:pPr>
                        <a:defRPr sz="1600" b="0">
                          <a:solidFill>
                            <a:srgbClr val="203546"/>
                          </a:solidFill>
                          <a:latin typeface="Liberation Sans"/>
                        </a:defRPr>
                      </a:pPr>
                      <a:r>
                        <a:t>MATH-Vision</a:t>
                      </a:r>
                    </a:p>
                  </a:txBody>
                  <a:tcPr marL="109728" marR="73152" marT="54864" marB="36576" anchor="ctr">
                    <a:solidFill>
                      <a:srgbClr val="FFFFFF"/>
                    </a:solidFill>
                  </a:tcPr>
                </a:tc>
                <a:tc>
                  <a:txBody>
                    <a:bodyPr/>
                    <a:lstStyle/>
                    <a:p>
                      <a:pPr>
                        <a:defRPr sz="1600" b="0">
                          <a:solidFill>
                            <a:srgbClr val="203546"/>
                          </a:solidFill>
                          <a:latin typeface="Liberation Sans"/>
                        </a:defRPr>
                      </a:pPr>
                      <a:r>
                        <a:t>31.0</a:t>
                      </a:r>
                    </a:p>
                  </a:txBody>
                  <a:tcPr marL="109728" marR="73152" marT="54864" marB="36576" anchor="ctr">
                    <a:solidFill>
                      <a:srgbClr val="FFFFFF"/>
                    </a:solidFill>
                  </a:tcPr>
                </a:tc>
                <a:tc>
                  <a:txBody>
                    <a:bodyPr/>
                    <a:lstStyle/>
                    <a:p>
                      <a:pPr>
                        <a:defRPr sz="1600" b="0">
                          <a:solidFill>
                            <a:srgbClr val="203546"/>
                          </a:solidFill>
                          <a:latin typeface="Liberation Sans"/>
                        </a:defRPr>
                      </a:pPr>
                      <a:r>
                        <a:t>31.7</a:t>
                      </a:r>
                    </a:p>
                  </a:txBody>
                  <a:tcPr marL="109728" marR="73152" marT="54864" marB="36576" anchor="ctr">
                    <a:solidFill>
                      <a:srgbClr val="FFFFFF"/>
                    </a:solidFill>
                  </a:tcPr>
                </a:tc>
              </a:tr>
              <a:tr h="640080">
                <a:tc>
                  <a:txBody>
                    <a:bodyPr/>
                    <a:lstStyle/>
                    <a:p>
                      <a:pPr>
                        <a:defRPr sz="1600" b="0">
                          <a:solidFill>
                            <a:srgbClr val="203546"/>
                          </a:solidFill>
                          <a:latin typeface="Liberation Sans"/>
                        </a:defRPr>
                      </a:pPr>
                      <a:r>
                        <a:t>VisuLogic</a:t>
                      </a:r>
                    </a:p>
                  </a:txBody>
                  <a:tcPr marL="109728" marR="73152" marT="54864" marB="36576" anchor="ctr">
                    <a:solidFill>
                      <a:srgbClr val="EEF4F6"/>
                    </a:solidFill>
                  </a:tcPr>
                </a:tc>
                <a:tc>
                  <a:txBody>
                    <a:bodyPr/>
                    <a:lstStyle/>
                    <a:p>
                      <a:pPr>
                        <a:defRPr sz="1600" b="0">
                          <a:solidFill>
                            <a:srgbClr val="203546"/>
                          </a:solidFill>
                          <a:latin typeface="Liberation Sans"/>
                        </a:defRPr>
                      </a:pPr>
                      <a:r>
                        <a:t>27.6</a:t>
                      </a:r>
                    </a:p>
                  </a:txBody>
                  <a:tcPr marL="109728" marR="73152" marT="54864" marB="36576" anchor="ctr">
                    <a:solidFill>
                      <a:srgbClr val="EEF4F6"/>
                    </a:solidFill>
                  </a:tcPr>
                </a:tc>
                <a:tc>
                  <a:txBody>
                    <a:bodyPr/>
                    <a:lstStyle/>
                    <a:p>
                      <a:pPr>
                        <a:defRPr sz="1600" b="0">
                          <a:solidFill>
                            <a:srgbClr val="203546"/>
                          </a:solidFill>
                          <a:latin typeface="Liberation Sans"/>
                        </a:defRPr>
                      </a:pPr>
                      <a:r>
                        <a:t>27.8</a:t>
                      </a:r>
                    </a:p>
                  </a:txBody>
                  <a:tcPr marL="109728" marR="73152" marT="54864" marB="36576" anchor="ctr">
                    <a:solidFill>
                      <a:srgbClr val="EEF4F6"/>
                    </a:solidFill>
                  </a:tcPr>
                </a:tc>
              </a:tr>
              <a:tr h="640080">
                <a:tc>
                  <a:txBody>
                    <a:bodyPr/>
                    <a:lstStyle/>
                    <a:p>
                      <a:pPr>
                        <a:defRPr sz="1600" b="0">
                          <a:solidFill>
                            <a:srgbClr val="203546"/>
                          </a:solidFill>
                          <a:latin typeface="Liberation Sans"/>
                        </a:defRPr>
                      </a:pPr>
                      <a:r>
                        <a:t>PhyX</a:t>
                      </a:r>
                    </a:p>
                  </a:txBody>
                  <a:tcPr marL="109728" marR="73152" marT="54864" marB="36576" anchor="ctr">
                    <a:solidFill>
                      <a:srgbClr val="FFFFFF"/>
                    </a:solidFill>
                  </a:tcPr>
                </a:tc>
                <a:tc>
                  <a:txBody>
                    <a:bodyPr/>
                    <a:lstStyle/>
                    <a:p>
                      <a:pPr>
                        <a:defRPr sz="1600" b="0">
                          <a:solidFill>
                            <a:srgbClr val="203546"/>
                          </a:solidFill>
                          <a:latin typeface="Liberation Sans"/>
                        </a:defRPr>
                      </a:pPr>
                      <a:r>
                        <a:t>46.7</a:t>
                      </a:r>
                    </a:p>
                  </a:txBody>
                  <a:tcPr marL="109728" marR="73152" marT="54864" marB="36576" anchor="ctr">
                    <a:solidFill>
                      <a:srgbClr val="FFFFFF"/>
                    </a:solidFill>
                  </a:tcPr>
                </a:tc>
                <a:tc>
                  <a:txBody>
                    <a:bodyPr/>
                    <a:lstStyle/>
                    <a:p>
                      <a:pPr>
                        <a:defRPr sz="1600" b="0">
                          <a:solidFill>
                            <a:srgbClr val="203546"/>
                          </a:solidFill>
                          <a:latin typeface="Liberation Sans"/>
                        </a:defRPr>
                      </a:pPr>
                      <a:r>
                        <a:t>48.6</a:t>
                      </a:r>
                    </a:p>
                  </a:txBody>
                  <a:tcPr marL="109728" marR="73152" marT="54864" marB="36576" anchor="ctr">
                    <a:solidFill>
                      <a:srgbClr val="FFFFFF"/>
                    </a:solidFill>
                  </a:tcPr>
                </a:tc>
              </a:tr>
            </a:tbl>
          </a:graphicData>
        </a:graphic>
      </p:graphicFrame>
      <p:sp>
        <p:nvSpPr>
          <p:cNvPr id="9" name="TextBox 8"/>
          <p:cNvSpPr txBox="1"/>
          <p:nvPr/>
        </p:nvSpPr>
        <p:spPr>
          <a:xfrm>
            <a:off x="8183879" y="5440680"/>
            <a:ext cx="3611880" cy="658368"/>
          </a:xfrm>
          <a:prstGeom prst="rect">
            <a:avLst/>
          </a:prstGeom>
          <a:noFill/>
        </p:spPr>
        <p:txBody>
          <a:bodyPr wrap="square" lIns="18288" rIns="18288" tIns="13716" bIns="13716">
            <a:spAutoFit/>
          </a:bodyPr>
          <a:lstStyle/>
          <a:p>
            <a:pPr>
              <a:spcAft>
                <a:spcPts val="800"/>
              </a:spcAft>
              <a:defRPr sz="2200" b="1">
                <a:solidFill>
                  <a:srgbClr val="087F8C"/>
                </a:solidFill>
                <a:latin typeface="Liberation Sans"/>
              </a:defRPr>
            </a:pPr>
            <a:r>
              <a:t>64.7–76.5% fewer tokens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On MMMU, the 7B model improves both axes</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09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p.6, Table1, MMMU columns</a:t>
            </a:r>
          </a:p>
        </p:txBody>
      </p:sp>
      <p:pic>
        <p:nvPicPr>
          <p:cNvPr id="7" name="Picture 6" descr="accuracy-vs-tokens-mmmu.png"/>
          <p:cNvPicPr>
            <a:picLocks noChangeAspect="1"/>
          </p:cNvPicPr>
          <p:nvPr/>
        </p:nvPicPr>
        <p:blipFill>
          <a:blip r:embed="rId2"/>
          <a:stretch>
            <a:fillRect/>
          </a:stretch>
        </p:blipFill>
        <p:spPr>
          <a:xfrm>
            <a:off x="1650206" y="1554480"/>
            <a:ext cx="8769667" cy="4526280"/>
          </a:xfrm>
          <a:prstGeom prst="rect">
            <a:avLst/>
          </a:prstGeom>
        </p:spPr>
      </p:pic>
      <p:sp>
        <p:nvSpPr>
          <p:cNvPr id="8" name="TextBox 7"/>
          <p:cNvSpPr txBox="1"/>
          <p:nvPr/>
        </p:nvSpPr>
        <p:spPr>
          <a:xfrm>
            <a:off x="685800" y="6035040"/>
            <a:ext cx="10607040" cy="274320"/>
          </a:xfrm>
          <a:prstGeom prst="rect">
            <a:avLst/>
          </a:prstGeom>
          <a:noFill/>
        </p:spPr>
        <p:txBody>
          <a:bodyPr wrap="square" lIns="18288" rIns="18288" tIns="13716" bIns="13716">
            <a:spAutoFit/>
          </a:bodyPr>
          <a:lstStyle/>
          <a:p>
            <a:pPr>
              <a:spcAft>
                <a:spcPts val="800"/>
              </a:spcAft>
              <a:defRPr sz="1800" b="0">
                <a:solidFill>
                  <a:srgbClr val="203546"/>
                </a:solidFill>
                <a:latin typeface="Liberation Sans"/>
              </a:defRPr>
            </a:pPr>
            <a:r>
              <a:t>Reported operating points · uncertainty not reported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Cold start and RL contribute together</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10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p.7, Tables3a,3b,3d</a:t>
            </a:r>
          </a:p>
        </p:txBody>
      </p:sp>
      <p:pic>
        <p:nvPicPr>
          <p:cNvPr id="7" name="Picture 6" descr="stages-ablation.png"/>
          <p:cNvPicPr>
            <a:picLocks noChangeAspect="1"/>
          </p:cNvPicPr>
          <p:nvPr/>
        </p:nvPicPr>
        <p:blipFill>
          <a:blip r:embed="rId2"/>
          <a:stretch>
            <a:fillRect/>
          </a:stretch>
        </p:blipFill>
        <p:spPr>
          <a:xfrm>
            <a:off x="320040" y="1640810"/>
            <a:ext cx="8138160" cy="4499923"/>
          </a:xfrm>
          <a:prstGeom prst="rect">
            <a:avLst/>
          </a:prstGeom>
        </p:spPr>
      </p:pic>
      <p:sp>
        <p:nvSpPr>
          <p:cNvPr id="8" name="TextBox 7"/>
          <p:cNvSpPr txBox="1"/>
          <p:nvPr/>
        </p:nvSpPr>
        <p:spPr>
          <a:xfrm>
            <a:off x="8503920" y="1828800"/>
            <a:ext cx="3200400" cy="594360"/>
          </a:xfrm>
          <a:prstGeom prst="rect">
            <a:avLst/>
          </a:prstGeom>
          <a:noFill/>
        </p:spPr>
        <p:txBody>
          <a:bodyPr wrap="square" lIns="18288" rIns="18288" tIns="13716" bIns="13716">
            <a:spAutoFit/>
          </a:bodyPr>
          <a:lstStyle/>
          <a:p>
            <a:pPr>
              <a:spcAft>
                <a:spcPts val="800"/>
              </a:spcAft>
              <a:defRPr sz="2400" b="1">
                <a:solidFill>
                  <a:srgbClr val="087F8C"/>
                </a:solidFill>
                <a:latin typeface="Liberation Sans"/>
              </a:defRPr>
            </a:pPr>
            <a:r>
              <a:t>Judge fine tuning</a:t>
            </a:r>
          </a:p>
        </p:txBody>
      </p:sp>
      <p:sp>
        <p:nvSpPr>
          <p:cNvPr id="9" name="TextBox 8"/>
          <p:cNvSpPr txBox="1"/>
          <p:nvPr/>
        </p:nvSpPr>
        <p:spPr>
          <a:xfrm>
            <a:off x="8503920" y="2697480"/>
            <a:ext cx="3200400" cy="2423160"/>
          </a:xfrm>
          <a:prstGeom prst="rect">
            <a:avLst/>
          </a:prstGeom>
          <a:noFill/>
        </p:spPr>
        <p:txBody>
          <a:bodyPr wrap="square" lIns="18288" rIns="18288" tIns="13716" bIns="13716">
            <a:spAutoFit/>
          </a:bodyPr>
          <a:lstStyle/>
          <a:p>
            <a:pPr>
              <a:spcAft>
                <a:spcPts val="800"/>
              </a:spcAft>
              <a:defRPr sz="2100" b="0">
                <a:solidFill>
                  <a:srgbClr val="203546"/>
                </a:solidFill>
                <a:latin typeface="Liberation Sans"/>
              </a:defRPr>
            </a:pPr>
            <a:r>
              <a:t>With SFT</a:t>
            </a:r>
          </a:p>
          <a:p>
            <a:pPr>
              <a:spcAft>
                <a:spcPts val="800"/>
              </a:spcAft>
              <a:defRPr sz="2100" b="0">
                <a:solidFill>
                  <a:srgbClr val="203546"/>
                </a:solidFill>
                <a:latin typeface="Liberation Sans"/>
              </a:defRPr>
            </a:pPr>
            <a:r>
              <a:t>62.8% / 64.3 tokens</a:t>
            </a:r>
          </a:p>
          <a:p>
            <a:pPr>
              <a:spcAft>
                <a:spcPts val="800"/>
              </a:spcAft>
              <a:defRPr sz="2100" b="0">
                <a:solidFill>
                  <a:srgbClr val="203546"/>
                </a:solidFill>
                <a:latin typeface="Liberation Sans"/>
              </a:defRPr>
            </a:pPr>
          </a:p>
          <a:p>
            <a:pPr>
              <a:spcAft>
                <a:spcPts val="800"/>
              </a:spcAft>
              <a:defRPr sz="2100" b="0">
                <a:solidFill>
                  <a:srgbClr val="203546"/>
                </a:solidFill>
                <a:latin typeface="Liberation Sans"/>
              </a:defRPr>
            </a:pPr>
            <a:r>
              <a:t>Without SFT</a:t>
            </a:r>
          </a:p>
          <a:p>
            <a:pPr>
              <a:spcAft>
                <a:spcPts val="800"/>
              </a:spcAft>
              <a:defRPr sz="2100" b="0">
                <a:solidFill>
                  <a:srgbClr val="203546"/>
                </a:solidFill>
                <a:latin typeface="Liberation Sans"/>
              </a:defRPr>
            </a:pPr>
            <a:r>
              <a:t>61.0% / 72.1 tokens</a:t>
            </a:r>
          </a:p>
        </p:txBody>
      </p:sp>
      <p:sp>
        <p:nvSpPr>
          <p:cNvPr id="10" name="TextBox 9"/>
          <p:cNvSpPr txBox="1"/>
          <p:nvPr/>
        </p:nvSpPr>
        <p:spPr>
          <a:xfrm>
            <a:off x="8503920" y="5623560"/>
            <a:ext cx="3108960" cy="365760"/>
          </a:xfrm>
          <a:prstGeom prst="rect">
            <a:avLst/>
          </a:prstGeom>
          <a:noFill/>
        </p:spPr>
        <p:txBody>
          <a:bodyPr wrap="square" lIns="18288" rIns="18288" tIns="13716" bIns="13716">
            <a:spAutoFit/>
          </a:bodyPr>
          <a:lstStyle/>
          <a:p>
            <a:pPr>
              <a:spcAft>
                <a:spcPts val="800"/>
              </a:spcAft>
              <a:defRPr sz="1800" b="0">
                <a:solidFill>
                  <a:srgbClr val="203546"/>
                </a:solidFill>
                <a:latin typeface="Liberation Sans"/>
              </a:defRPr>
            </a:pPr>
            <a:r>
              <a:t>MMMU · 7B backbone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The 3B result exposes an accuracy boundary</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11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p.6, Table2</a:t>
            </a:r>
          </a:p>
        </p:txBody>
      </p:sp>
      <p:pic>
        <p:nvPicPr>
          <p:cNvPr id="7" name="Picture 6" descr="accuracy-delta-3b.png"/>
          <p:cNvPicPr>
            <a:picLocks noChangeAspect="1"/>
          </p:cNvPicPr>
          <p:nvPr/>
        </p:nvPicPr>
        <p:blipFill>
          <a:blip r:embed="rId2"/>
          <a:stretch>
            <a:fillRect/>
          </a:stretch>
        </p:blipFill>
        <p:spPr>
          <a:xfrm>
            <a:off x="515778" y="1600200"/>
            <a:ext cx="8203882" cy="4526280"/>
          </a:xfrm>
          <a:prstGeom prst="rect">
            <a:avLst/>
          </a:prstGeom>
        </p:spPr>
      </p:pic>
      <p:sp>
        <p:nvSpPr>
          <p:cNvPr id="8" name="TextBox 7"/>
          <p:cNvSpPr txBox="1"/>
          <p:nvPr/>
        </p:nvSpPr>
        <p:spPr>
          <a:xfrm>
            <a:off x="8869680" y="2011680"/>
            <a:ext cx="2743200" cy="457200"/>
          </a:xfrm>
          <a:prstGeom prst="rect">
            <a:avLst/>
          </a:prstGeom>
          <a:noFill/>
        </p:spPr>
        <p:txBody>
          <a:bodyPr wrap="square" lIns="18288" rIns="18288" tIns="13716" bIns="13716">
            <a:spAutoFit/>
          </a:bodyPr>
          <a:lstStyle/>
          <a:p>
            <a:pPr>
              <a:spcAft>
                <a:spcPts val="800"/>
              </a:spcAft>
              <a:defRPr sz="2300" b="1">
                <a:solidFill>
                  <a:srgbClr val="B85341"/>
                </a:solidFill>
                <a:latin typeface="Liberation Sans"/>
              </a:defRPr>
            </a:pPr>
            <a:r>
              <a:t>MATH-Vision</a:t>
            </a:r>
          </a:p>
        </p:txBody>
      </p:sp>
      <p:sp>
        <p:nvSpPr>
          <p:cNvPr id="9" name="TextBox 8"/>
          <p:cNvSpPr txBox="1"/>
          <p:nvPr/>
        </p:nvSpPr>
        <p:spPr>
          <a:xfrm>
            <a:off x="8869680" y="2743200"/>
            <a:ext cx="2743200" cy="548640"/>
          </a:xfrm>
          <a:prstGeom prst="rect">
            <a:avLst/>
          </a:prstGeom>
          <a:noFill/>
        </p:spPr>
        <p:txBody>
          <a:bodyPr wrap="square" lIns="18288" rIns="18288" tIns="13716" bIns="13716">
            <a:spAutoFit/>
          </a:bodyPr>
          <a:lstStyle/>
          <a:p>
            <a:pPr>
              <a:spcAft>
                <a:spcPts val="800"/>
              </a:spcAft>
              <a:defRPr sz="2500" b="1">
                <a:solidFill>
                  <a:srgbClr val="B85341"/>
                </a:solidFill>
                <a:latin typeface="Liberation Sans"/>
              </a:defRPr>
            </a:pPr>
            <a:r>
              <a:t>26.9% → 25.3%</a:t>
            </a:r>
          </a:p>
        </p:txBody>
      </p:sp>
      <p:sp>
        <p:nvSpPr>
          <p:cNvPr id="10" name="TextBox 9"/>
          <p:cNvSpPr txBox="1"/>
          <p:nvPr/>
        </p:nvSpPr>
        <p:spPr>
          <a:xfrm>
            <a:off x="8869680" y="3520440"/>
            <a:ext cx="2743200" cy="365760"/>
          </a:xfrm>
          <a:prstGeom prst="rect">
            <a:avLst/>
          </a:prstGeom>
          <a:noFill/>
        </p:spPr>
        <p:txBody>
          <a:bodyPr wrap="square" lIns="18288" rIns="18288" tIns="13716" bIns="13716">
            <a:spAutoFit/>
          </a:bodyPr>
          <a:lstStyle/>
          <a:p>
            <a:pPr>
              <a:spcAft>
                <a:spcPts val="800"/>
              </a:spcAft>
              <a:defRPr sz="2000" b="1">
                <a:solidFill>
                  <a:srgbClr val="203546"/>
                </a:solidFill>
                <a:latin typeface="Liberation Sans"/>
              </a:defRPr>
            </a:pPr>
            <a:r>
              <a:t>Reasoning tokens</a:t>
            </a:r>
          </a:p>
        </p:txBody>
      </p:sp>
      <p:sp>
        <p:nvSpPr>
          <p:cNvPr id="11" name="TextBox 10"/>
          <p:cNvSpPr txBox="1"/>
          <p:nvPr/>
        </p:nvSpPr>
        <p:spPr>
          <a:xfrm>
            <a:off x="8869680" y="4023360"/>
            <a:ext cx="2743200" cy="457200"/>
          </a:xfrm>
          <a:prstGeom prst="rect">
            <a:avLst/>
          </a:prstGeom>
          <a:noFill/>
        </p:spPr>
        <p:txBody>
          <a:bodyPr wrap="square" lIns="18288" rIns="18288" tIns="13716" bIns="13716">
            <a:spAutoFit/>
          </a:bodyPr>
          <a:lstStyle/>
          <a:p>
            <a:pPr>
              <a:spcAft>
                <a:spcPts val="800"/>
              </a:spcAft>
              <a:defRPr sz="2500" b="1">
                <a:solidFill>
                  <a:srgbClr val="087F8C"/>
                </a:solidFill>
                <a:latin typeface="Liberation Sans"/>
              </a:defRPr>
            </a:pPr>
            <a:r>
              <a:t>151.2 → 72.7</a:t>
            </a:r>
          </a:p>
        </p:txBody>
      </p:sp>
      <p:sp>
        <p:nvSpPr>
          <p:cNvPr id="12" name="TextBox 11"/>
          <p:cNvSpPr txBox="1"/>
          <p:nvPr/>
        </p:nvSpPr>
        <p:spPr>
          <a:xfrm>
            <a:off x="8869680" y="4892040"/>
            <a:ext cx="2743200" cy="1097280"/>
          </a:xfrm>
          <a:prstGeom prst="rect">
            <a:avLst/>
          </a:prstGeom>
          <a:noFill/>
        </p:spPr>
        <p:txBody>
          <a:bodyPr wrap="square" lIns="18288" rIns="18288" tIns="13716" bIns="13716">
            <a:spAutoFit/>
          </a:bodyPr>
          <a:lstStyle/>
          <a:p>
            <a:pPr>
              <a:spcAft>
                <a:spcPts val="800"/>
              </a:spcAft>
              <a:defRPr sz="2000" b="0">
                <a:solidFill>
                  <a:srgbClr val="203546"/>
                </a:solidFill>
                <a:latin typeface="Liberation Sans"/>
              </a:defRPr>
            </a:pPr>
            <a:r>
              <a:t>Token savings do not</a:t>
            </a:r>
          </a:p>
          <a:p>
            <a:pPr>
              <a:spcAft>
                <a:spcPts val="800"/>
              </a:spcAft>
              <a:defRPr sz="2000" b="0">
                <a:solidFill>
                  <a:srgbClr val="203546"/>
                </a:solidFill>
                <a:latin typeface="Liberation Sans"/>
              </a:defRPr>
            </a:pPr>
            <a:r>
              <a:t>guarantee accuracy 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Appendix results refine the efficiency claim</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12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PDF pp.16–18, Tables7,9,11; p.20, Table15</a:t>
            </a:r>
          </a:p>
        </p:txBody>
      </p:sp>
      <p:graphicFrame>
        <p:nvGraphicFramePr>
          <p:cNvPr id="7" name="Table 6"/>
          <p:cNvGraphicFramePr>
            <a:graphicFrameLocks noGrp="1"/>
          </p:cNvGraphicFramePr>
          <p:nvPr/>
        </p:nvGraphicFramePr>
        <p:xfrm>
          <a:off x="594360" y="1783080"/>
          <a:ext cx="6492240" cy="2423160"/>
        </p:xfrm>
        <a:graphic>
          <a:graphicData uri="http://schemas.openxmlformats.org/drawingml/2006/table">
            <a:tbl>
              <a:tblPr firstRow="1" bandRow="1">
                <a:tableStyleId>{5C22544A-7EE6-4342-B048-85BDC9FD1C3A}</a:tableStyleId>
              </a:tblPr>
              <a:tblGrid>
                <a:gridCol w="3566160"/>
                <a:gridCol w="1645920"/>
                <a:gridCol w="1280160"/>
              </a:tblGrid>
              <a:tr h="605790">
                <a:tc>
                  <a:txBody>
                    <a:bodyPr/>
                    <a:lstStyle/>
                    <a:p>
                      <a:pPr>
                        <a:defRPr sz="2000" b="1">
                          <a:solidFill>
                            <a:srgbClr val="FFFFFF"/>
                          </a:solidFill>
                          <a:latin typeface="Liberation Sans"/>
                        </a:defRPr>
                      </a:pPr>
                      <a:r>
                        <a:t>MMMU reward schedule</a:t>
                      </a:r>
                    </a:p>
                  </a:txBody>
                  <a:tcPr marL="109728" marR="73152" marT="54864" marB="36576" anchor="ctr">
                    <a:solidFill>
                      <a:srgbClr val="112B43"/>
                    </a:solidFill>
                  </a:tcPr>
                </a:tc>
                <a:tc>
                  <a:txBody>
                    <a:bodyPr/>
                    <a:lstStyle/>
                    <a:p>
                      <a:pPr>
                        <a:defRPr sz="2000" b="1">
                          <a:solidFill>
                            <a:srgbClr val="FFFFFF"/>
                          </a:solidFill>
                          <a:latin typeface="Liberation Sans"/>
                        </a:defRPr>
                      </a:pPr>
                      <a:r>
                        <a:t>Accuracy (%)</a:t>
                      </a:r>
                    </a:p>
                  </a:txBody>
                  <a:tcPr marL="109728" marR="73152" marT="54864" marB="36576" anchor="ctr">
                    <a:solidFill>
                      <a:srgbClr val="112B43"/>
                    </a:solidFill>
                  </a:tcPr>
                </a:tc>
                <a:tc>
                  <a:txBody>
                    <a:bodyPr/>
                    <a:lstStyle/>
                    <a:p>
                      <a:pPr>
                        <a:defRPr sz="2000" b="1">
                          <a:solidFill>
                            <a:srgbClr val="FFFFFF"/>
                          </a:solidFill>
                          <a:latin typeface="Liberation Sans"/>
                        </a:defRPr>
                      </a:pPr>
                      <a:r>
                        <a:t>Tokens</a:t>
                      </a:r>
                    </a:p>
                  </a:txBody>
                  <a:tcPr marL="109728" marR="73152" marT="54864" marB="36576" anchor="ctr">
                    <a:solidFill>
                      <a:srgbClr val="112B43"/>
                    </a:solidFill>
                  </a:tcPr>
                </a:tc>
              </a:tr>
              <a:tr h="605790">
                <a:tc>
                  <a:txBody>
                    <a:bodyPr/>
                    <a:lstStyle/>
                    <a:p>
                      <a:pPr>
                        <a:defRPr sz="2000" b="0">
                          <a:solidFill>
                            <a:srgbClr val="203546"/>
                          </a:solidFill>
                          <a:latin typeface="Liberation Sans"/>
                        </a:defRPr>
                      </a:pPr>
                      <a:r>
                        <a:t>Fixed</a:t>
                      </a:r>
                    </a:p>
                  </a:txBody>
                  <a:tcPr marL="109728" marR="73152" marT="54864" marB="36576" anchor="ctr">
                    <a:solidFill>
                      <a:srgbClr val="EEF4F6"/>
                    </a:solidFill>
                  </a:tcPr>
                </a:tc>
                <a:tc>
                  <a:txBody>
                    <a:bodyPr/>
                    <a:lstStyle/>
                    <a:p>
                      <a:pPr>
                        <a:defRPr sz="2000" b="0">
                          <a:solidFill>
                            <a:srgbClr val="203546"/>
                          </a:solidFill>
                          <a:latin typeface="Liberation Sans"/>
                        </a:defRPr>
                      </a:pPr>
                      <a:r>
                        <a:t>62.8</a:t>
                      </a:r>
                    </a:p>
                  </a:txBody>
                  <a:tcPr marL="109728" marR="73152" marT="54864" marB="36576" anchor="ctr">
                    <a:solidFill>
                      <a:srgbClr val="EEF4F6"/>
                    </a:solidFill>
                  </a:tcPr>
                </a:tc>
                <a:tc>
                  <a:txBody>
                    <a:bodyPr/>
                    <a:lstStyle/>
                    <a:p>
                      <a:pPr>
                        <a:defRPr sz="2000" b="0">
                          <a:solidFill>
                            <a:srgbClr val="203546"/>
                          </a:solidFill>
                          <a:latin typeface="Liberation Sans"/>
                        </a:defRPr>
                      </a:pPr>
                      <a:r>
                        <a:t>64.3</a:t>
                      </a:r>
                    </a:p>
                  </a:txBody>
                  <a:tcPr marL="109728" marR="73152" marT="54864" marB="36576" anchor="ctr">
                    <a:solidFill>
                      <a:srgbClr val="EEF4F6"/>
                    </a:solidFill>
                  </a:tcPr>
                </a:tc>
              </a:tr>
              <a:tr h="605790">
                <a:tc>
                  <a:txBody>
                    <a:bodyPr/>
                    <a:lstStyle/>
                    <a:p>
                      <a:pPr>
                        <a:defRPr sz="2000" b="0">
                          <a:solidFill>
                            <a:srgbClr val="203546"/>
                          </a:solidFill>
                          <a:latin typeface="Liberation Sans"/>
                        </a:defRPr>
                      </a:pPr>
                      <a:r>
                        <a:t>Staged</a:t>
                      </a:r>
                    </a:p>
                  </a:txBody>
                  <a:tcPr marL="109728" marR="73152" marT="54864" marB="36576" anchor="ctr">
                    <a:solidFill>
                      <a:srgbClr val="FFFFFF"/>
                    </a:solidFill>
                  </a:tcPr>
                </a:tc>
                <a:tc>
                  <a:txBody>
                    <a:bodyPr/>
                    <a:lstStyle/>
                    <a:p>
                      <a:pPr>
                        <a:defRPr sz="2000" b="0">
                          <a:solidFill>
                            <a:srgbClr val="203546"/>
                          </a:solidFill>
                          <a:latin typeface="Liberation Sans"/>
                        </a:defRPr>
                      </a:pPr>
                      <a:r>
                        <a:t>63.0</a:t>
                      </a:r>
                    </a:p>
                  </a:txBody>
                  <a:tcPr marL="109728" marR="73152" marT="54864" marB="36576" anchor="ctr">
                    <a:solidFill>
                      <a:srgbClr val="FFFFFF"/>
                    </a:solidFill>
                  </a:tcPr>
                </a:tc>
                <a:tc>
                  <a:txBody>
                    <a:bodyPr/>
                    <a:lstStyle/>
                    <a:p>
                      <a:pPr>
                        <a:defRPr sz="2000" b="0">
                          <a:solidFill>
                            <a:srgbClr val="203546"/>
                          </a:solidFill>
                          <a:latin typeface="Liberation Sans"/>
                        </a:defRPr>
                      </a:pPr>
                      <a:r>
                        <a:t>63.8</a:t>
                      </a:r>
                    </a:p>
                  </a:txBody>
                  <a:tcPr marL="109728" marR="73152" marT="54864" marB="36576" anchor="ctr">
                    <a:solidFill>
                      <a:srgbClr val="FFFFFF"/>
                    </a:solidFill>
                  </a:tcPr>
                </a:tc>
              </a:tr>
              <a:tr h="605790">
                <a:tc>
                  <a:txBody>
                    <a:bodyPr/>
                    <a:lstStyle/>
                    <a:p>
                      <a:pPr>
                        <a:defRPr sz="2000" b="0">
                          <a:solidFill>
                            <a:srgbClr val="203546"/>
                          </a:solidFill>
                          <a:latin typeface="Liberation Sans"/>
                        </a:defRPr>
                      </a:pPr>
                      <a:r>
                        <a:t>Dynamic</a:t>
                      </a:r>
                    </a:p>
                  </a:txBody>
                  <a:tcPr marL="109728" marR="73152" marT="54864" marB="36576" anchor="ctr">
                    <a:solidFill>
                      <a:srgbClr val="EEF4F6"/>
                    </a:solidFill>
                  </a:tcPr>
                </a:tc>
                <a:tc>
                  <a:txBody>
                    <a:bodyPr/>
                    <a:lstStyle/>
                    <a:p>
                      <a:pPr>
                        <a:defRPr sz="2000" b="0">
                          <a:solidFill>
                            <a:srgbClr val="203546"/>
                          </a:solidFill>
                          <a:latin typeface="Liberation Sans"/>
                        </a:defRPr>
                      </a:pPr>
                      <a:r>
                        <a:t>63.2</a:t>
                      </a:r>
                    </a:p>
                  </a:txBody>
                  <a:tcPr marL="109728" marR="73152" marT="54864" marB="36576" anchor="ctr">
                    <a:solidFill>
                      <a:srgbClr val="EEF4F6"/>
                    </a:solidFill>
                  </a:tcPr>
                </a:tc>
                <a:tc>
                  <a:txBody>
                    <a:bodyPr/>
                    <a:lstStyle/>
                    <a:p>
                      <a:pPr>
                        <a:defRPr sz="2000" b="0">
                          <a:solidFill>
                            <a:srgbClr val="203546"/>
                          </a:solidFill>
                          <a:latin typeface="Liberation Sans"/>
                        </a:defRPr>
                      </a:pPr>
                      <a:r>
                        <a:t>62.5</a:t>
                      </a:r>
                    </a:p>
                  </a:txBody>
                  <a:tcPr marL="109728" marR="73152" marT="54864" marB="36576" anchor="ctr">
                    <a:solidFill>
                      <a:srgbClr val="EEF4F6"/>
                    </a:solidFill>
                  </a:tcPr>
                </a:tc>
              </a:tr>
            </a:tbl>
          </a:graphicData>
        </a:graphic>
      </p:graphicFrame>
      <p:sp>
        <p:nvSpPr>
          <p:cNvPr id="8" name="TextBox 7"/>
          <p:cNvSpPr txBox="1"/>
          <p:nvPr/>
        </p:nvSpPr>
        <p:spPr>
          <a:xfrm>
            <a:off x="7635240" y="1810512"/>
            <a:ext cx="3657600" cy="457200"/>
          </a:xfrm>
          <a:prstGeom prst="rect">
            <a:avLst/>
          </a:prstGeom>
          <a:noFill/>
        </p:spPr>
        <p:txBody>
          <a:bodyPr wrap="square" lIns="18288" rIns="18288" tIns="13716" bIns="13716">
            <a:spAutoFit/>
          </a:bodyPr>
          <a:lstStyle/>
          <a:p>
            <a:pPr>
              <a:spcAft>
                <a:spcPts val="800"/>
              </a:spcAft>
              <a:defRPr sz="2400" b="1">
                <a:solidFill>
                  <a:srgbClr val="087F8C"/>
                </a:solidFill>
                <a:latin typeface="Liberation Sans"/>
              </a:defRPr>
            </a:pPr>
            <a:r>
              <a:t>More RL data</a:t>
            </a:r>
          </a:p>
        </p:txBody>
      </p:sp>
      <p:sp>
        <p:nvSpPr>
          <p:cNvPr id="9" name="TextBox 8"/>
          <p:cNvSpPr txBox="1"/>
          <p:nvPr/>
        </p:nvSpPr>
        <p:spPr>
          <a:xfrm>
            <a:off x="7635240" y="2514600"/>
            <a:ext cx="3657600" cy="1005840"/>
          </a:xfrm>
          <a:prstGeom prst="rect">
            <a:avLst/>
          </a:prstGeom>
          <a:noFill/>
        </p:spPr>
        <p:txBody>
          <a:bodyPr wrap="square" lIns="18288" rIns="18288" tIns="13716" bIns="13716">
            <a:spAutoFit/>
          </a:bodyPr>
          <a:lstStyle/>
          <a:p>
            <a:pPr>
              <a:spcAft>
                <a:spcPts val="800"/>
              </a:spcAft>
              <a:defRPr sz="2200" b="0">
                <a:solidFill>
                  <a:srgbClr val="203546"/>
                </a:solidFill>
                <a:latin typeface="Liberation Sans"/>
              </a:defRPr>
            </a:pPr>
            <a:r>
              <a:t>1K → 5K samples</a:t>
            </a:r>
          </a:p>
          <a:p>
            <a:pPr>
              <a:spcAft>
                <a:spcPts val="800"/>
              </a:spcAft>
              <a:defRPr sz="2200" b="0">
                <a:solidFill>
                  <a:srgbClr val="203546"/>
                </a:solidFill>
                <a:latin typeface="Liberation Sans"/>
              </a:defRPr>
            </a:pPr>
            <a:r>
              <a:t>62.8% → 66.1% MMMU</a:t>
            </a:r>
          </a:p>
        </p:txBody>
      </p:sp>
      <p:sp>
        <p:nvSpPr>
          <p:cNvPr id="10" name="TextBox 9"/>
          <p:cNvSpPr txBox="1"/>
          <p:nvPr/>
        </p:nvSpPr>
        <p:spPr>
          <a:xfrm>
            <a:off x="685800" y="4663440"/>
            <a:ext cx="5029200" cy="411480"/>
          </a:xfrm>
          <a:prstGeom prst="rect">
            <a:avLst/>
          </a:prstGeom>
          <a:noFill/>
        </p:spPr>
        <p:txBody>
          <a:bodyPr wrap="square" lIns="18288" rIns="18288" tIns="13716" bIns="13716">
            <a:spAutoFit/>
          </a:bodyPr>
          <a:lstStyle/>
          <a:p>
            <a:pPr>
              <a:spcAft>
                <a:spcPts val="800"/>
              </a:spcAft>
              <a:defRPr sz="2400" b="1">
                <a:solidFill>
                  <a:srgbClr val="087F8C"/>
                </a:solidFill>
                <a:latin typeface="Liberation Sans"/>
              </a:defRPr>
            </a:pPr>
            <a:r>
              <a:t>Training time</a:t>
            </a:r>
          </a:p>
        </p:txBody>
      </p:sp>
      <p:sp>
        <p:nvSpPr>
          <p:cNvPr id="11" name="TextBox 10"/>
          <p:cNvSpPr txBox="1"/>
          <p:nvPr/>
        </p:nvSpPr>
        <p:spPr>
          <a:xfrm>
            <a:off x="685800" y="5303520"/>
            <a:ext cx="6309360" cy="502920"/>
          </a:xfrm>
          <a:prstGeom prst="rect">
            <a:avLst/>
          </a:prstGeom>
          <a:noFill/>
        </p:spPr>
        <p:txBody>
          <a:bodyPr wrap="square" lIns="18288" rIns="18288" tIns="13716" bIns="13716">
            <a:spAutoFit/>
          </a:bodyPr>
          <a:lstStyle/>
          <a:p>
            <a:pPr>
              <a:spcAft>
                <a:spcPts val="800"/>
              </a:spcAft>
              <a:defRPr sz="2300" b="0">
                <a:solidFill>
                  <a:srgbClr val="203546"/>
                </a:solidFill>
                <a:latin typeface="Liberation Sans"/>
              </a:defRPr>
            </a:pPr>
            <a:r>
              <a:t>2.70 h → 2.21 h · 8 H800 GPUs</a:t>
            </a:r>
          </a:p>
        </p:txBody>
      </p:sp>
      <p:sp>
        <p:nvSpPr>
          <p:cNvPr id="12" name="TextBox 11"/>
          <p:cNvSpPr txBox="1"/>
          <p:nvPr/>
        </p:nvSpPr>
        <p:spPr>
          <a:xfrm>
            <a:off x="7635240" y="4434840"/>
            <a:ext cx="3657600" cy="457200"/>
          </a:xfrm>
          <a:prstGeom prst="rect">
            <a:avLst/>
          </a:prstGeom>
          <a:noFill/>
        </p:spPr>
        <p:txBody>
          <a:bodyPr wrap="square" lIns="18288" rIns="18288" tIns="13716" bIns="13716">
            <a:spAutoFit/>
          </a:bodyPr>
          <a:lstStyle/>
          <a:p>
            <a:pPr>
              <a:spcAft>
                <a:spcPts val="800"/>
              </a:spcAft>
              <a:defRPr sz="2200" b="1">
                <a:solidFill>
                  <a:srgbClr val="087F8C"/>
                </a:solidFill>
                <a:latin typeface="Liberation Sans"/>
              </a:defRPr>
            </a:pPr>
            <a:r>
              <a:t>Human readability study</a:t>
            </a:r>
          </a:p>
        </p:txBody>
      </p:sp>
      <p:sp>
        <p:nvSpPr>
          <p:cNvPr id="13" name="TextBox 12"/>
          <p:cNvSpPr txBox="1"/>
          <p:nvPr/>
        </p:nvSpPr>
        <p:spPr>
          <a:xfrm>
            <a:off x="7635240" y="5074920"/>
            <a:ext cx="3657600" cy="914400"/>
          </a:xfrm>
          <a:prstGeom prst="rect">
            <a:avLst/>
          </a:prstGeom>
          <a:noFill/>
        </p:spPr>
        <p:txBody>
          <a:bodyPr wrap="square" lIns="18288" rIns="18288" tIns="13716" bIns="13716">
            <a:spAutoFit/>
          </a:bodyPr>
          <a:lstStyle/>
          <a:p>
            <a:pPr>
              <a:spcAft>
                <a:spcPts val="800"/>
              </a:spcAft>
              <a:defRPr sz="2100" b="0">
                <a:solidFill>
                  <a:srgbClr val="203546"/>
                </a:solidFill>
                <a:latin typeface="Liberation Sans"/>
              </a:defRPr>
            </a:pPr>
            <a:r>
              <a:t>20 jointly correct examples</a:t>
            </a:r>
          </a:p>
          <a:p>
            <a:pPr>
              <a:spcAft>
                <a:spcPts val="800"/>
              </a:spcAft>
              <a:defRPr sz="2100" b="0">
                <a:solidFill>
                  <a:srgbClr val="203546"/>
                </a:solidFill>
                <a:latin typeface="Liberation Sans"/>
              </a:defRPr>
            </a:pPr>
            <a:r>
              <a:t>5 evaluators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2B4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82D5D5"/>
                </a:solidFill>
                <a:latin typeface="Liberation Sans"/>
              </a:defRPr>
            </a:pPr>
            <a:r>
              <a:t>PART I  /  PAPER ANALYSIS</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FFFFFF"/>
                </a:solidFill>
                <a:latin typeface="Liberation Sans"/>
              </a:defRPr>
            </a:pPr>
            <a:r>
              <a:t>Efficient answers leave evidence preservation unresolved</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FFFFFF"/>
                </a:solidFill>
                <a:latin typeface="Liberation Sans"/>
              </a:defRPr>
            </a:pPr>
            <a:r>
              <a:t>13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BDCED9"/>
                </a:solidFill>
                <a:latin typeface="Liberation Sans"/>
              </a:defRPr>
            </a:pPr>
            <a:r>
              <a:t>PDF §2.2, Tables1–3,11–14; §3 versus App.D.3</a:t>
            </a:r>
          </a:p>
        </p:txBody>
      </p:sp>
      <p:sp>
        <p:nvSpPr>
          <p:cNvPr id="7" name="TextBox 6"/>
          <p:cNvSpPr txBox="1"/>
          <p:nvPr/>
        </p:nvSpPr>
        <p:spPr>
          <a:xfrm>
            <a:off x="685800" y="1783080"/>
            <a:ext cx="10789920" cy="457200"/>
          </a:xfrm>
          <a:prstGeom prst="rect">
            <a:avLst/>
          </a:prstGeom>
          <a:noFill/>
        </p:spPr>
        <p:txBody>
          <a:bodyPr wrap="square" lIns="18288" rIns="18288" tIns="13716" bIns="13716">
            <a:spAutoFit/>
          </a:bodyPr>
          <a:lstStyle/>
          <a:p>
            <a:pPr>
              <a:spcAft>
                <a:spcPts val="800"/>
              </a:spcAft>
              <a:defRPr sz="2500" b="1">
                <a:solidFill>
                  <a:srgbClr val="82D5D5"/>
                </a:solidFill>
                <a:latin typeface="Liberation Sans"/>
              </a:defRPr>
            </a:pPr>
            <a:r>
              <a:t>What the paper establishes</a:t>
            </a:r>
          </a:p>
        </p:txBody>
      </p:sp>
      <p:sp>
        <p:nvSpPr>
          <p:cNvPr id="8" name="TextBox 7"/>
          <p:cNvSpPr txBox="1"/>
          <p:nvPr/>
        </p:nvSpPr>
        <p:spPr>
          <a:xfrm>
            <a:off x="685800" y="2514600"/>
            <a:ext cx="10698480" cy="640080"/>
          </a:xfrm>
          <a:prstGeom prst="rect">
            <a:avLst/>
          </a:prstGeom>
          <a:noFill/>
        </p:spPr>
        <p:txBody>
          <a:bodyPr wrap="square" lIns="18288" rIns="18288" tIns="13716" bIns="13716">
            <a:spAutoFit/>
          </a:bodyPr>
          <a:lstStyle/>
          <a:p>
            <a:pPr>
              <a:spcAft>
                <a:spcPts val="800"/>
              </a:spcAft>
              <a:defRPr sz="2900" b="0">
                <a:solidFill>
                  <a:srgbClr val="FFFFFF"/>
                </a:solidFill>
                <a:latin typeface="Liberation Sans"/>
              </a:defRPr>
            </a:pPr>
            <a:r>
              <a:t>Large token savings in the tested 7B comparisons</a:t>
            </a:r>
          </a:p>
        </p:txBody>
      </p:sp>
      <p:sp>
        <p:nvSpPr>
          <p:cNvPr id="9" name="TextBox 8"/>
          <p:cNvSpPr txBox="1"/>
          <p:nvPr/>
        </p:nvSpPr>
        <p:spPr>
          <a:xfrm>
            <a:off x="731520" y="3520440"/>
            <a:ext cx="2377440" cy="365760"/>
          </a:xfrm>
          <a:prstGeom prst="rect">
            <a:avLst/>
          </a:prstGeom>
          <a:noFill/>
        </p:spPr>
        <p:txBody>
          <a:bodyPr wrap="square" lIns="18288" rIns="18288" tIns="13716" bIns="13716">
            <a:spAutoFit/>
          </a:bodyPr>
          <a:lstStyle/>
          <a:p>
            <a:pPr>
              <a:spcAft>
                <a:spcPts val="800"/>
              </a:spcAft>
              <a:defRPr sz="2100" b="1">
                <a:solidFill>
                  <a:srgbClr val="82D5D5"/>
                </a:solidFill>
                <a:latin typeface="Liberation Sans"/>
              </a:defRPr>
            </a:pPr>
            <a:r>
              <a:t>Grounding</a:t>
            </a:r>
          </a:p>
        </p:txBody>
      </p:sp>
      <p:sp>
        <p:nvSpPr>
          <p:cNvPr id="10" name="TextBox 9"/>
          <p:cNvSpPr txBox="1"/>
          <p:nvPr/>
        </p:nvSpPr>
        <p:spPr>
          <a:xfrm>
            <a:off x="3383280" y="3520440"/>
            <a:ext cx="7772400" cy="457200"/>
          </a:xfrm>
          <a:prstGeom prst="rect">
            <a:avLst/>
          </a:prstGeom>
          <a:noFill/>
        </p:spPr>
        <p:txBody>
          <a:bodyPr wrap="square" lIns="18288" rIns="18288" tIns="13716" bIns="13716">
            <a:spAutoFit/>
          </a:bodyPr>
          <a:lstStyle/>
          <a:p>
            <a:pPr>
              <a:spcAft>
                <a:spcPts val="800"/>
              </a:spcAft>
              <a:defRPr sz="2200" b="0">
                <a:solidFill>
                  <a:srgbClr val="FFFFFF"/>
                </a:solidFill>
                <a:latin typeface="Liberation Sans"/>
              </a:defRPr>
            </a:pPr>
            <a:r>
              <a:t>Text-only style judge</a:t>
            </a:r>
          </a:p>
        </p:txBody>
      </p:sp>
      <p:sp>
        <p:nvSpPr>
          <p:cNvPr id="11" name="TextBox 10"/>
          <p:cNvSpPr txBox="1"/>
          <p:nvPr/>
        </p:nvSpPr>
        <p:spPr>
          <a:xfrm>
            <a:off x="731520" y="4270248"/>
            <a:ext cx="2377440" cy="365760"/>
          </a:xfrm>
          <a:prstGeom prst="rect">
            <a:avLst/>
          </a:prstGeom>
          <a:noFill/>
        </p:spPr>
        <p:txBody>
          <a:bodyPr wrap="square" lIns="18288" rIns="18288" tIns="13716" bIns="13716">
            <a:spAutoFit/>
          </a:bodyPr>
          <a:lstStyle/>
          <a:p>
            <a:pPr>
              <a:spcAft>
                <a:spcPts val="800"/>
              </a:spcAft>
              <a:defRPr sz="2100" b="1">
                <a:solidFill>
                  <a:srgbClr val="82D5D5"/>
                </a:solidFill>
                <a:latin typeface="Liberation Sans"/>
              </a:defRPr>
            </a:pPr>
            <a:r>
              <a:t>Uncertainty</a:t>
            </a:r>
          </a:p>
        </p:txBody>
      </p:sp>
      <p:sp>
        <p:nvSpPr>
          <p:cNvPr id="12" name="TextBox 11"/>
          <p:cNvSpPr txBox="1"/>
          <p:nvPr/>
        </p:nvSpPr>
        <p:spPr>
          <a:xfrm>
            <a:off x="3383280" y="4270248"/>
            <a:ext cx="7772400" cy="457200"/>
          </a:xfrm>
          <a:prstGeom prst="rect">
            <a:avLst/>
          </a:prstGeom>
          <a:noFill/>
        </p:spPr>
        <p:txBody>
          <a:bodyPr wrap="square" lIns="18288" rIns="18288" tIns="13716" bIns="13716">
            <a:spAutoFit/>
          </a:bodyPr>
          <a:lstStyle/>
          <a:p>
            <a:pPr>
              <a:spcAft>
                <a:spcPts val="800"/>
              </a:spcAft>
              <a:defRPr sz="2200" b="0">
                <a:solidFill>
                  <a:srgbClr val="FFFFFF"/>
                </a:solidFill>
                <a:latin typeface="Liberation Sans"/>
              </a:defRPr>
            </a:pPr>
            <a:r>
              <a:t>Point estimates; small human audit</a:t>
            </a:r>
          </a:p>
        </p:txBody>
      </p:sp>
      <p:sp>
        <p:nvSpPr>
          <p:cNvPr id="13" name="TextBox 12"/>
          <p:cNvSpPr txBox="1"/>
          <p:nvPr/>
        </p:nvSpPr>
        <p:spPr>
          <a:xfrm>
            <a:off x="731520" y="5020056"/>
            <a:ext cx="2377440" cy="365760"/>
          </a:xfrm>
          <a:prstGeom prst="rect">
            <a:avLst/>
          </a:prstGeom>
          <a:noFill/>
        </p:spPr>
        <p:txBody>
          <a:bodyPr wrap="square" lIns="18288" rIns="18288" tIns="13716" bIns="13716">
            <a:spAutoFit/>
          </a:bodyPr>
          <a:lstStyle/>
          <a:p>
            <a:pPr>
              <a:spcAft>
                <a:spcPts val="800"/>
              </a:spcAft>
              <a:defRPr sz="2100" b="1">
                <a:solidFill>
                  <a:srgbClr val="82D5D5"/>
                </a:solidFill>
                <a:latin typeface="Liberation Sans"/>
              </a:defRPr>
            </a:pPr>
            <a:r>
              <a:t>Reproduction</a:t>
            </a:r>
          </a:p>
        </p:txBody>
      </p:sp>
      <p:sp>
        <p:nvSpPr>
          <p:cNvPr id="14" name="TextBox 13"/>
          <p:cNvSpPr txBox="1"/>
          <p:nvPr/>
        </p:nvSpPr>
        <p:spPr>
          <a:xfrm>
            <a:off x="3383280" y="5020056"/>
            <a:ext cx="7772400" cy="457200"/>
          </a:xfrm>
          <a:prstGeom prst="rect">
            <a:avLst/>
          </a:prstGeom>
          <a:noFill/>
        </p:spPr>
        <p:txBody>
          <a:bodyPr wrap="square" lIns="18288" rIns="18288" tIns="13716" bIns="13716">
            <a:spAutoFit/>
          </a:bodyPr>
          <a:lstStyle/>
          <a:p>
            <a:pPr>
              <a:spcAft>
                <a:spcPts val="800"/>
              </a:spcAft>
              <a:defRPr sz="2200" b="0">
                <a:solidFill>
                  <a:srgbClr val="FFFFFF"/>
                </a:solidFill>
                <a:latin typeface="Liberation Sans"/>
              </a:defRPr>
            </a:pPr>
            <a:r>
              <a:t>Rollout batch size: 128 vs 512</a:t>
            </a:r>
          </a:p>
        </p:txBody>
      </p:sp>
      <p:sp>
        <p:nvSpPr>
          <p:cNvPr id="15" name="TextBox 14"/>
          <p:cNvSpPr txBox="1"/>
          <p:nvPr/>
        </p:nvSpPr>
        <p:spPr>
          <a:xfrm>
            <a:off x="685800" y="5943600"/>
            <a:ext cx="10972800" cy="365760"/>
          </a:xfrm>
          <a:prstGeom prst="rect">
            <a:avLst/>
          </a:prstGeom>
          <a:noFill/>
        </p:spPr>
        <p:txBody>
          <a:bodyPr wrap="square" lIns="18288" rIns="18288" tIns="13716" bIns="13716">
            <a:spAutoFit/>
          </a:bodyPr>
          <a:lstStyle/>
          <a:p>
            <a:pPr>
              <a:spcAft>
                <a:spcPts val="800"/>
              </a:spcAft>
              <a:defRPr sz="2500" b="1">
                <a:solidFill>
                  <a:srgbClr val="FFFFFF"/>
                </a:solidFill>
                <a:latin typeface="Liberation Sans"/>
              </a:defRPr>
            </a:pPr>
            <a:r>
              <a:t>Open question: what evidence survives compression?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II  /  RESEARCH PLAN</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Pitch: preserve the evidence behind an answer</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14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Research plan; proposal §§1,3; illustrative example</a:t>
            </a:r>
          </a:p>
        </p:txBody>
      </p:sp>
      <p:sp>
        <p:nvSpPr>
          <p:cNvPr id="7" name="TextBox 6"/>
          <p:cNvSpPr txBox="1"/>
          <p:nvPr/>
        </p:nvSpPr>
        <p:spPr>
          <a:xfrm>
            <a:off x="640080" y="1572768"/>
            <a:ext cx="10789920" cy="914400"/>
          </a:xfrm>
          <a:prstGeom prst="rect">
            <a:avLst/>
          </a:prstGeom>
          <a:noFill/>
        </p:spPr>
        <p:txBody>
          <a:bodyPr wrap="square" lIns="18288" rIns="18288" tIns="13716" bIns="13716">
            <a:spAutoFit/>
          </a:bodyPr>
          <a:lstStyle/>
          <a:p>
            <a:pPr>
              <a:spcAft>
                <a:spcPts val="800"/>
              </a:spcAft>
              <a:defRPr sz="2700" b="1">
                <a:solidFill>
                  <a:srgbClr val="087F8C"/>
                </a:solidFill>
                <a:latin typeface="Liberation Sans"/>
              </a:defRPr>
            </a:pPr>
            <a:r>
              <a:t>Preserving Visual Evidence in</a:t>
            </a:r>
          </a:p>
          <a:p>
            <a:pPr>
              <a:spcAft>
                <a:spcPts val="800"/>
              </a:spcAft>
              <a:defRPr sz="2700" b="1">
                <a:solidFill>
                  <a:srgbClr val="087F8C"/>
                </a:solidFill>
                <a:latin typeface="Liberation Sans"/>
              </a:defRPr>
            </a:pPr>
            <a:r>
              <a:t>Compressed Multimodal Reasoning</a:t>
            </a:r>
          </a:p>
        </p:txBody>
      </p:sp>
      <p:cxnSp>
        <p:nvCxnSpPr>
          <p:cNvPr id="8" name="Connector 7"/>
          <p:cNvCxnSpPr/>
          <p:nvPr/>
        </p:nvCxnSpPr>
        <p:spPr>
          <a:xfrm flipV="1">
            <a:off x="914400" y="3108960"/>
            <a:ext cx="1371600" cy="182880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286000" y="3108960"/>
            <a:ext cx="1371600" cy="182880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14400" y="4937760"/>
            <a:ext cx="2743200"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61872" y="4416552"/>
            <a:ext cx="914400" cy="365760"/>
          </a:xfrm>
          <a:prstGeom prst="rect">
            <a:avLst/>
          </a:prstGeom>
          <a:noFill/>
        </p:spPr>
        <p:txBody>
          <a:bodyPr wrap="square" lIns="18288" rIns="18288" tIns="13716" bIns="13716">
            <a:spAutoFit/>
          </a:bodyPr>
          <a:lstStyle/>
          <a:p>
            <a:pPr>
              <a:spcAft>
                <a:spcPts val="800"/>
              </a:spcAft>
              <a:defRPr sz="2200" b="0">
                <a:solidFill>
                  <a:srgbClr val="203546"/>
                </a:solidFill>
                <a:latin typeface="Liberation Sans"/>
              </a:defRPr>
            </a:pPr>
            <a:r>
              <a:t>40°</a:t>
            </a:r>
          </a:p>
        </p:txBody>
      </p:sp>
      <p:sp>
        <p:nvSpPr>
          <p:cNvPr id="12" name="TextBox 11"/>
          <p:cNvSpPr txBox="1"/>
          <p:nvPr/>
        </p:nvSpPr>
        <p:spPr>
          <a:xfrm>
            <a:off x="2816352" y="4416552"/>
            <a:ext cx="914400" cy="365760"/>
          </a:xfrm>
          <a:prstGeom prst="rect">
            <a:avLst/>
          </a:prstGeom>
          <a:noFill/>
        </p:spPr>
        <p:txBody>
          <a:bodyPr wrap="square" lIns="18288" rIns="18288" tIns="13716" bIns="13716">
            <a:spAutoFit/>
          </a:bodyPr>
          <a:lstStyle/>
          <a:p>
            <a:pPr>
              <a:spcAft>
                <a:spcPts val="800"/>
              </a:spcAft>
              <a:defRPr sz="2200" b="0">
                <a:solidFill>
                  <a:srgbClr val="203546"/>
                </a:solidFill>
                <a:latin typeface="Liberation Sans"/>
              </a:defRPr>
            </a:pPr>
            <a:r>
              <a:t>60°</a:t>
            </a:r>
          </a:p>
        </p:txBody>
      </p:sp>
      <p:sp>
        <p:nvSpPr>
          <p:cNvPr id="13" name="TextBox 12"/>
          <p:cNvSpPr txBox="1"/>
          <p:nvPr/>
        </p:nvSpPr>
        <p:spPr>
          <a:xfrm>
            <a:off x="2103120" y="3493008"/>
            <a:ext cx="457200" cy="365760"/>
          </a:xfrm>
          <a:prstGeom prst="rect">
            <a:avLst/>
          </a:prstGeom>
          <a:noFill/>
        </p:spPr>
        <p:txBody>
          <a:bodyPr wrap="square" lIns="18288" rIns="18288" tIns="13716" bIns="13716">
            <a:spAutoFit/>
          </a:bodyPr>
          <a:lstStyle/>
          <a:p>
            <a:pPr>
              <a:spcAft>
                <a:spcPts val="800"/>
              </a:spcAft>
              <a:defRPr sz="2400" b="0">
                <a:solidFill>
                  <a:srgbClr val="203546"/>
                </a:solidFill>
                <a:latin typeface="Liberation Sans"/>
              </a:defRPr>
            </a:pPr>
            <a:r>
              <a:t>x</a:t>
            </a:r>
          </a:p>
        </p:txBody>
      </p:sp>
      <p:sp>
        <p:nvSpPr>
          <p:cNvPr id="14" name="TextBox 13"/>
          <p:cNvSpPr txBox="1"/>
          <p:nvPr/>
        </p:nvSpPr>
        <p:spPr>
          <a:xfrm>
            <a:off x="822960" y="5349240"/>
            <a:ext cx="3474720" cy="457200"/>
          </a:xfrm>
          <a:prstGeom prst="rect">
            <a:avLst/>
          </a:prstGeom>
          <a:noFill/>
        </p:spPr>
        <p:txBody>
          <a:bodyPr wrap="square" lIns="18288" rIns="18288" tIns="13716" bIns="13716">
            <a:spAutoFit/>
          </a:bodyPr>
          <a:lstStyle/>
          <a:p>
            <a:pPr>
              <a:spcAft>
                <a:spcPts val="800"/>
              </a:spcAft>
              <a:defRPr sz="1800" b="0">
                <a:solidFill>
                  <a:srgbClr val="203546"/>
                </a:solidFill>
                <a:latin typeface="Liberation Sans"/>
              </a:defRPr>
            </a:pPr>
            <a:r>
              <a:t>Image-only angle readings</a:t>
            </a:r>
          </a:p>
        </p:txBody>
      </p:sp>
      <p:sp>
        <p:nvSpPr>
          <p:cNvPr id="15" name="TextBox 14"/>
          <p:cNvSpPr txBox="1"/>
          <p:nvPr/>
        </p:nvSpPr>
        <p:spPr>
          <a:xfrm>
            <a:off x="4572000" y="2971800"/>
            <a:ext cx="6400800" cy="411480"/>
          </a:xfrm>
          <a:prstGeom prst="rect">
            <a:avLst/>
          </a:prstGeom>
          <a:noFill/>
        </p:spPr>
        <p:txBody>
          <a:bodyPr wrap="square" lIns="18288" rIns="18288" tIns="13716" bIns="13716">
            <a:spAutoFit/>
          </a:bodyPr>
          <a:lstStyle/>
          <a:p>
            <a:pPr>
              <a:spcAft>
                <a:spcPts val="800"/>
              </a:spcAft>
              <a:defRPr sz="2400" b="1">
                <a:solidFill>
                  <a:srgbClr val="087F8C"/>
                </a:solidFill>
                <a:latin typeface="Liberation Sans"/>
              </a:defRPr>
            </a:pPr>
            <a:r>
              <a:t>Sufficient sketch</a:t>
            </a:r>
          </a:p>
        </p:txBody>
      </p:sp>
      <p:sp>
        <p:nvSpPr>
          <p:cNvPr id="16" name="TextBox 15"/>
          <p:cNvSpPr txBox="1"/>
          <p:nvPr/>
        </p:nvSpPr>
        <p:spPr>
          <a:xfrm>
            <a:off x="4572000" y="3675887"/>
            <a:ext cx="6766560" cy="1188720"/>
          </a:xfrm>
          <a:prstGeom prst="rect">
            <a:avLst/>
          </a:prstGeom>
          <a:noFill/>
        </p:spPr>
        <p:txBody>
          <a:bodyPr wrap="square" lIns="18288" rIns="18288" tIns="13716" bIns="13716">
            <a:spAutoFit/>
          </a:bodyPr>
          <a:lstStyle/>
          <a:p>
            <a:pPr>
              <a:spcAft>
                <a:spcPts val="800"/>
              </a:spcAft>
              <a:defRPr sz="2400" b="0">
                <a:solidFill>
                  <a:srgbClr val="203546"/>
                </a:solidFill>
                <a:latin typeface="Liberation Sans"/>
              </a:defRPr>
            </a:pPr>
            <a:r>
              <a:t>Angles read: 40° and 60°</a:t>
            </a:r>
          </a:p>
          <a:p>
            <a:pPr>
              <a:spcAft>
                <a:spcPts val="800"/>
              </a:spcAft>
              <a:defRPr sz="2400" b="0">
                <a:solidFill>
                  <a:srgbClr val="203546"/>
                </a:solidFill>
                <a:latin typeface="Liberation Sans"/>
              </a:defRPr>
            </a:pPr>
            <a:r>
              <a:t>Triangle sum: x = 180° − 40° − 60° = 80°</a:t>
            </a:r>
          </a:p>
        </p:txBody>
      </p:sp>
      <p:sp>
        <p:nvSpPr>
          <p:cNvPr id="17" name="TextBox 16"/>
          <p:cNvSpPr txBox="1"/>
          <p:nvPr/>
        </p:nvSpPr>
        <p:spPr>
          <a:xfrm>
            <a:off x="4572000" y="5230368"/>
            <a:ext cx="6583680" cy="868680"/>
          </a:xfrm>
          <a:prstGeom prst="rect">
            <a:avLst/>
          </a:prstGeom>
          <a:noFill/>
        </p:spPr>
        <p:txBody>
          <a:bodyPr wrap="square" lIns="18288" rIns="18288" tIns="13716" bIns="13716">
            <a:spAutoFit/>
          </a:bodyPr>
          <a:lstStyle/>
          <a:p>
            <a:pPr>
              <a:spcAft>
                <a:spcPts val="800"/>
              </a:spcAft>
              <a:defRPr sz="2100" b="0">
                <a:solidFill>
                  <a:srgbClr val="203546"/>
                </a:solidFill>
                <a:latin typeface="Liberation Sans"/>
              </a:defRPr>
            </a:pPr>
            <a:r>
              <a:t>Explicit premises + valid deductions</a:t>
            </a:r>
          </a:p>
          <a:p>
            <a:pPr>
              <a:spcAft>
                <a:spcPts val="800"/>
              </a:spcAft>
              <a:defRPr sz="2100" b="0">
                <a:solidFill>
                  <a:srgbClr val="203546"/>
                </a:solidFill>
                <a:latin typeface="Liberation Sans"/>
              </a:defRPr>
            </a:pPr>
            <a:r>
              <a:t>Accept alternative complete proofs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087F8C"/>
                </a:solidFill>
                <a:latin typeface="Liberation Sans"/>
              </a:defRPr>
            </a:pPr>
            <a:r>
              <a:t>PART II  /  RESEARCH PLAN</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203546"/>
                </a:solidFill>
                <a:latin typeface="Liberation Sans"/>
              </a:defRPr>
            </a:pPr>
            <a:r>
              <a:t>Compare evidence and style under shared data and compute</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203546"/>
                </a:solidFill>
                <a:latin typeface="Liberation Sans"/>
              </a:defRPr>
            </a:pPr>
            <a:r>
              <a:t>15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607889"/>
                </a:solidFill>
                <a:latin typeface="Liberation Sans"/>
              </a:defRPr>
            </a:pPr>
            <a:r>
              <a:t>Proposal §§3–4; all sample sizes and targets are planned</a:t>
            </a:r>
          </a:p>
        </p:txBody>
      </p:sp>
      <p:graphicFrame>
        <p:nvGraphicFramePr>
          <p:cNvPr id="7" name="Table 6"/>
          <p:cNvGraphicFramePr>
            <a:graphicFrameLocks noGrp="1"/>
          </p:cNvGraphicFramePr>
          <p:nvPr/>
        </p:nvGraphicFramePr>
        <p:xfrm>
          <a:off x="594360" y="1737360"/>
          <a:ext cx="10972800" cy="2331720"/>
        </p:xfrm>
        <a:graphic>
          <a:graphicData uri="http://schemas.openxmlformats.org/drawingml/2006/table">
            <a:tbl>
              <a:tblPr firstRow="1" bandRow="1">
                <a:tableStyleId>{5C22544A-7EE6-4342-B048-85BDC9FD1C3A}</a:tableStyleId>
              </a:tblPr>
              <a:tblGrid>
                <a:gridCol w="6583680"/>
                <a:gridCol w="4389120"/>
              </a:tblGrid>
              <a:tr h="582930">
                <a:tc>
                  <a:txBody>
                    <a:bodyPr/>
                    <a:lstStyle/>
                    <a:p>
                      <a:pPr>
                        <a:defRPr sz="2100" b="1">
                          <a:solidFill>
                            <a:srgbClr val="FFFFFF"/>
                          </a:solidFill>
                          <a:latin typeface="Liberation Sans"/>
                        </a:defRPr>
                      </a:pPr>
                      <a:r>
                        <a:t>Shared cold start + rewritten data</a:t>
                      </a:r>
                    </a:p>
                  </a:txBody>
                  <a:tcPr marL="109728" marR="73152" marT="54864" marB="36576" anchor="ctr">
                    <a:solidFill>
                      <a:srgbClr val="112B43"/>
                    </a:solidFill>
                  </a:tcPr>
                </a:tc>
                <a:tc>
                  <a:txBody>
                    <a:bodyPr/>
                    <a:lstStyle/>
                    <a:p>
                      <a:pPr>
                        <a:defRPr sz="2100" b="1">
                          <a:solidFill>
                            <a:srgbClr val="FFFFFF"/>
                          </a:solidFill>
                          <a:latin typeface="Liberation Sans"/>
                        </a:defRPr>
                      </a:pPr>
                      <a:r>
                        <a:t>Auxiliary reward</a:t>
                      </a:r>
                    </a:p>
                  </a:txBody>
                  <a:tcPr marL="109728" marR="73152" marT="54864" marB="36576" anchor="ctr">
                    <a:solidFill>
                      <a:srgbClr val="112B43"/>
                    </a:solidFill>
                  </a:tcPr>
                </a:tc>
              </a:tr>
              <a:tr h="582930">
                <a:tc>
                  <a:txBody>
                    <a:bodyPr/>
                    <a:lstStyle/>
                    <a:p>
                      <a:pPr>
                        <a:defRPr sz="2100" b="0">
                          <a:solidFill>
                            <a:srgbClr val="203546"/>
                          </a:solidFill>
                          <a:latin typeface="Liberation Sans"/>
                        </a:defRPr>
                      </a:pPr>
                      <a:r>
                        <a:t>Evidence arm</a:t>
                      </a:r>
                    </a:p>
                  </a:txBody>
                  <a:tcPr marL="109728" marR="73152" marT="54864" marB="36576" anchor="ctr">
                    <a:solidFill>
                      <a:srgbClr val="EEF4F6"/>
                    </a:solidFill>
                  </a:tcPr>
                </a:tc>
                <a:tc>
                  <a:txBody>
                    <a:bodyPr/>
                    <a:lstStyle/>
                    <a:p>
                      <a:pPr>
                        <a:defRPr sz="2100" b="0">
                          <a:solidFill>
                            <a:srgbClr val="203546"/>
                          </a:solidFill>
                          <a:latin typeface="Liberation Sans"/>
                        </a:defRPr>
                      </a:pPr>
                      <a:r>
                        <a:t>Image + question + trace</a:t>
                      </a:r>
                    </a:p>
                  </a:txBody>
                  <a:tcPr marL="109728" marR="73152" marT="54864" marB="36576" anchor="ctr">
                    <a:solidFill>
                      <a:srgbClr val="EEF4F6"/>
                    </a:solidFill>
                  </a:tcPr>
                </a:tc>
              </a:tr>
              <a:tr h="582930">
                <a:tc>
                  <a:txBody>
                    <a:bodyPr/>
                    <a:lstStyle/>
                    <a:p>
                      <a:pPr>
                        <a:defRPr sz="2100" b="0">
                          <a:solidFill>
                            <a:srgbClr val="203546"/>
                          </a:solidFill>
                          <a:latin typeface="Liberation Sans"/>
                        </a:defRPr>
                      </a:pPr>
                      <a:r>
                        <a:t>Style arm</a:t>
                      </a:r>
                    </a:p>
                  </a:txBody>
                  <a:tcPr marL="109728" marR="73152" marT="54864" marB="36576" anchor="ctr">
                    <a:solidFill>
                      <a:srgbClr val="FFFFFF"/>
                    </a:solidFill>
                  </a:tcPr>
                </a:tc>
                <a:tc>
                  <a:txBody>
                    <a:bodyPr/>
                    <a:lstStyle/>
                    <a:p>
                      <a:pPr>
                        <a:defRPr sz="2100" b="0">
                          <a:solidFill>
                            <a:srgbClr val="203546"/>
                          </a:solidFill>
                          <a:latin typeface="Liberation Sans"/>
                        </a:defRPr>
                      </a:pPr>
                      <a:r>
                        <a:t>Thinking text only</a:t>
                      </a:r>
                    </a:p>
                  </a:txBody>
                  <a:tcPr marL="109728" marR="73152" marT="54864" marB="36576" anchor="ctr">
                    <a:solidFill>
                      <a:srgbClr val="FFFFFF"/>
                    </a:solidFill>
                  </a:tcPr>
                </a:tc>
              </a:tr>
              <a:tr h="582930">
                <a:tc>
                  <a:txBody>
                    <a:bodyPr/>
                    <a:lstStyle/>
                    <a:p>
                      <a:pPr>
                        <a:defRPr sz="2100" b="0">
                          <a:solidFill>
                            <a:srgbClr val="203546"/>
                          </a:solidFill>
                          <a:latin typeface="Liberation Sans"/>
                        </a:defRPr>
                      </a:pPr>
                      <a:r>
                        <a:t>Zero-component arm</a:t>
                      </a:r>
                    </a:p>
                  </a:txBody>
                  <a:tcPr marL="109728" marR="73152" marT="54864" marB="36576" anchor="ctr">
                    <a:solidFill>
                      <a:srgbClr val="EEF4F6"/>
                    </a:solidFill>
                  </a:tcPr>
                </a:tc>
                <a:tc>
                  <a:txBody>
                    <a:bodyPr/>
                    <a:lstStyle/>
                    <a:p>
                      <a:pPr>
                        <a:defRPr sz="2100" b="0">
                          <a:solidFill>
                            <a:srgbClr val="203546"/>
                          </a:solidFill>
                          <a:latin typeface="Liberation Sans"/>
                        </a:defRPr>
                      </a:pPr>
                      <a:r>
                        <a:t>No auxiliary component</a:t>
                      </a:r>
                    </a:p>
                  </a:txBody>
                  <a:tcPr marL="109728" marR="73152" marT="54864" marB="36576" anchor="ctr">
                    <a:solidFill>
                      <a:srgbClr val="EEF4F6"/>
                    </a:solidFill>
                  </a:tcPr>
                </a:tc>
              </a:tr>
            </a:tbl>
          </a:graphicData>
        </a:graphic>
      </p:graphicFrame>
      <p:sp>
        <p:nvSpPr>
          <p:cNvPr id="8" name="TextBox 7"/>
          <p:cNvSpPr txBox="1"/>
          <p:nvPr/>
        </p:nvSpPr>
        <p:spPr>
          <a:xfrm>
            <a:off x="685800" y="4389120"/>
            <a:ext cx="10789920" cy="457200"/>
          </a:xfrm>
          <a:prstGeom prst="rect">
            <a:avLst/>
          </a:prstGeom>
          <a:noFill/>
        </p:spPr>
        <p:txBody>
          <a:bodyPr wrap="square" lIns="18288" rIns="18288" tIns="13716" bIns="13716">
            <a:spAutoFit/>
          </a:bodyPr>
          <a:lstStyle/>
          <a:p>
            <a:pPr>
              <a:spcAft>
                <a:spcPts val="800"/>
              </a:spcAft>
              <a:defRPr sz="2500" b="1">
                <a:solidFill>
                  <a:srgbClr val="087F8C"/>
                </a:solidFill>
                <a:latin typeface="Liberation Sans"/>
              </a:defRPr>
            </a:pPr>
            <a:r>
              <a:t>2,400 rendered problems · checked image pairs</a:t>
            </a:r>
          </a:p>
        </p:txBody>
      </p:sp>
      <p:sp>
        <p:nvSpPr>
          <p:cNvPr id="9" name="TextBox 8"/>
          <p:cNvSpPr txBox="1"/>
          <p:nvPr/>
        </p:nvSpPr>
        <p:spPr>
          <a:xfrm>
            <a:off x="685800" y="5074920"/>
            <a:ext cx="10789920" cy="457200"/>
          </a:xfrm>
          <a:prstGeom prst="rect">
            <a:avLst/>
          </a:prstGeom>
          <a:noFill/>
        </p:spPr>
        <p:txBody>
          <a:bodyPr wrap="square" lIns="18288" rIns="18288" tIns="13716" bIns="13716">
            <a:spAutoFit/>
          </a:bodyPr>
          <a:lstStyle/>
          <a:p>
            <a:pPr>
              <a:spcAft>
                <a:spcPts val="800"/>
              </a:spcAft>
              <a:defRPr sz="2400" b="1">
                <a:solidFill>
                  <a:srgbClr val="203546"/>
                </a:solidFill>
                <a:latin typeface="Liberation Sans"/>
              </a:defRPr>
            </a:pPr>
            <a:r>
              <a:t>Match achieved tokens within 5% · include judge compute</a:t>
            </a:r>
          </a:p>
        </p:txBody>
      </p:sp>
      <p:sp>
        <p:nvSpPr>
          <p:cNvPr id="10" name="TextBox 9"/>
          <p:cNvSpPr txBox="1"/>
          <p:nvPr/>
        </p:nvSpPr>
        <p:spPr>
          <a:xfrm>
            <a:off x="685800" y="5760720"/>
            <a:ext cx="10789920" cy="548640"/>
          </a:xfrm>
          <a:prstGeom prst="rect">
            <a:avLst/>
          </a:prstGeom>
          <a:noFill/>
        </p:spPr>
        <p:txBody>
          <a:bodyPr wrap="square" lIns="18288" rIns="18288" tIns="13716" bIns="13716">
            <a:spAutoFit/>
          </a:bodyPr>
          <a:lstStyle/>
          <a:p>
            <a:pPr>
              <a:spcAft>
                <a:spcPts val="800"/>
              </a:spcAft>
              <a:defRPr sz="2000" b="0">
                <a:solidFill>
                  <a:srgbClr val="203546"/>
                </a:solidFill>
                <a:latin typeface="Liberation Sans"/>
              </a:defRPr>
            </a:pPr>
            <a:r>
              <a:t>Measure: accuracy · premise retention · human sufficiency · paired correctness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2B4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82880"/>
            <a:ext cx="10058400" cy="274320"/>
          </a:xfrm>
          <a:prstGeom prst="rect">
            <a:avLst/>
          </a:prstGeom>
          <a:noFill/>
        </p:spPr>
        <p:txBody>
          <a:bodyPr wrap="square" lIns="18288" rIns="18288" tIns="13716" bIns="13716">
            <a:spAutoFit/>
          </a:bodyPr>
          <a:lstStyle/>
          <a:p>
            <a:pPr>
              <a:spcAft>
                <a:spcPts val="800"/>
              </a:spcAft>
              <a:defRPr sz="1100" b="1">
                <a:solidFill>
                  <a:srgbClr val="82D5D5"/>
                </a:solidFill>
                <a:latin typeface="Liberation Sans"/>
              </a:defRPr>
            </a:pPr>
            <a:r>
              <a:t>PART II  /  RESEARCH PLAN</a:t>
            </a:r>
          </a:p>
        </p:txBody>
      </p:sp>
      <p:sp>
        <p:nvSpPr>
          <p:cNvPr id="4" name="TextBox 3"/>
          <p:cNvSpPr txBox="1"/>
          <p:nvPr/>
        </p:nvSpPr>
        <p:spPr>
          <a:xfrm>
            <a:off x="457200" y="658368"/>
            <a:ext cx="11155680" cy="822960"/>
          </a:xfrm>
          <a:prstGeom prst="rect">
            <a:avLst/>
          </a:prstGeom>
          <a:noFill/>
        </p:spPr>
        <p:txBody>
          <a:bodyPr wrap="square" lIns="18288" rIns="18288" tIns="13716" bIns="13716">
            <a:spAutoFit/>
          </a:bodyPr>
          <a:lstStyle/>
          <a:p>
            <a:pPr>
              <a:spcAft>
                <a:spcPts val="800"/>
              </a:spcAft>
              <a:defRPr sz="3000" b="1">
                <a:solidFill>
                  <a:srgbClr val="FFFFFF"/>
                </a:solidFill>
                <a:latin typeface="Liberation Sans"/>
              </a:defRPr>
            </a:pPr>
            <a:r>
              <a:t>A six-month plan with explicit success and null outcomes</a:t>
            </a:r>
          </a:p>
        </p:txBody>
      </p:sp>
      <p:sp>
        <p:nvSpPr>
          <p:cNvPr id="5" name="TextBox 4"/>
          <p:cNvSpPr txBox="1"/>
          <p:nvPr/>
        </p:nvSpPr>
        <p:spPr>
          <a:xfrm>
            <a:off x="10972800" y="6455664"/>
            <a:ext cx="731520" cy="228600"/>
          </a:xfrm>
          <a:prstGeom prst="rect">
            <a:avLst/>
          </a:prstGeom>
          <a:noFill/>
        </p:spPr>
        <p:txBody>
          <a:bodyPr wrap="square" lIns="18288" rIns="18288" tIns="13716" bIns="13716">
            <a:spAutoFit/>
          </a:bodyPr>
          <a:lstStyle/>
          <a:p>
            <a:pPr>
              <a:spcAft>
                <a:spcPts val="800"/>
              </a:spcAft>
              <a:defRPr sz="1000" b="0">
                <a:solidFill>
                  <a:srgbClr val="FFFFFF"/>
                </a:solidFill>
                <a:latin typeface="Liberation Sans"/>
              </a:defRPr>
            </a:pPr>
            <a:r>
              <a:t>16 / 16</a:t>
            </a:r>
          </a:p>
        </p:txBody>
      </p:sp>
      <p:sp>
        <p:nvSpPr>
          <p:cNvPr id="6" name="TextBox 5"/>
          <p:cNvSpPr txBox="1"/>
          <p:nvPr/>
        </p:nvSpPr>
        <p:spPr>
          <a:xfrm>
            <a:off x="457200" y="6446520"/>
            <a:ext cx="10241280" cy="265176"/>
          </a:xfrm>
          <a:prstGeom prst="rect">
            <a:avLst/>
          </a:prstGeom>
          <a:noFill/>
        </p:spPr>
        <p:txBody>
          <a:bodyPr wrap="square" lIns="18288" rIns="18288" tIns="13716" bIns="13716">
            <a:spAutoFit/>
          </a:bodyPr>
          <a:lstStyle/>
          <a:p>
            <a:pPr>
              <a:spcAft>
                <a:spcPts val="800"/>
              </a:spcAft>
              <a:defRPr sz="1000" b="0">
                <a:solidFill>
                  <a:srgbClr val="BDCED9"/>
                </a:solidFill>
                <a:latin typeface="Liberation Sans"/>
              </a:defRPr>
            </a:pPr>
            <a:r>
              <a:t>Proposal §§3–5; planned milestones, thresholds, and resources</a:t>
            </a:r>
          </a:p>
        </p:txBody>
      </p:sp>
      <p:sp>
        <p:nvSpPr>
          <p:cNvPr id="7" name="Rectangle 6"/>
          <p:cNvSpPr/>
          <p:nvPr/>
        </p:nvSpPr>
        <p:spPr>
          <a:xfrm>
            <a:off x="594360" y="1783080"/>
            <a:ext cx="1719072" cy="457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56231"/>
            <a:ext cx="1719072" cy="274320"/>
          </a:xfrm>
          <a:prstGeom prst="rect">
            <a:avLst/>
          </a:prstGeom>
          <a:noFill/>
        </p:spPr>
        <p:txBody>
          <a:bodyPr wrap="square" lIns="18288" rIns="18288" tIns="13716" bIns="13716">
            <a:spAutoFit/>
          </a:bodyPr>
          <a:lstStyle/>
          <a:p>
            <a:pPr algn="ctr">
              <a:spcAft>
                <a:spcPts val="800"/>
              </a:spcAft>
              <a:defRPr sz="1800" b="1">
                <a:solidFill>
                  <a:srgbClr val="FFFFFF"/>
                </a:solidFill>
                <a:latin typeface="Liberation Sans"/>
              </a:defRPr>
            </a:pPr>
            <a:r>
              <a:t>M1</a:t>
            </a:r>
          </a:p>
        </p:txBody>
      </p:sp>
      <p:sp>
        <p:nvSpPr>
          <p:cNvPr id="9" name="TextBox 8"/>
          <p:cNvSpPr txBox="1"/>
          <p:nvPr/>
        </p:nvSpPr>
        <p:spPr>
          <a:xfrm>
            <a:off x="594360" y="2487168"/>
            <a:ext cx="1764792" cy="1143000"/>
          </a:xfrm>
          <a:prstGeom prst="rect">
            <a:avLst/>
          </a:prstGeom>
          <a:noFill/>
        </p:spPr>
        <p:txBody>
          <a:bodyPr wrap="square" lIns="18288" rIns="18288" tIns="13716" bIns="13716">
            <a:spAutoFit/>
          </a:bodyPr>
          <a:lstStyle/>
          <a:p>
            <a:pPr>
              <a:spcAft>
                <a:spcPts val="800"/>
              </a:spcAft>
              <a:defRPr sz="1800" b="0">
                <a:solidFill>
                  <a:srgbClr val="FFFFFF"/>
                </a:solidFill>
                <a:latin typeface="Liberation Sans"/>
              </a:defRPr>
            </a:pPr>
            <a:r>
              <a:t>Reproduce</a:t>
            </a:r>
          </a:p>
          <a:p>
            <a:pPr>
              <a:spcAft>
                <a:spcPts val="800"/>
              </a:spcAft>
              <a:defRPr sz="1800" b="0">
                <a:solidFill>
                  <a:srgbClr val="FFFFFF"/>
                </a:solidFill>
                <a:latin typeface="Liberation Sans"/>
              </a:defRPr>
            </a:pPr>
            <a:r>
              <a:t>Compute pilot</a:t>
            </a:r>
          </a:p>
        </p:txBody>
      </p:sp>
      <p:sp>
        <p:nvSpPr>
          <p:cNvPr id="10" name="Rectangle 9"/>
          <p:cNvSpPr/>
          <p:nvPr/>
        </p:nvSpPr>
        <p:spPr>
          <a:xfrm>
            <a:off x="2514600" y="1783080"/>
            <a:ext cx="1719072" cy="457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4600" y="1856231"/>
            <a:ext cx="1719072" cy="274320"/>
          </a:xfrm>
          <a:prstGeom prst="rect">
            <a:avLst/>
          </a:prstGeom>
          <a:noFill/>
        </p:spPr>
        <p:txBody>
          <a:bodyPr wrap="square" lIns="18288" rIns="18288" tIns="13716" bIns="13716">
            <a:spAutoFit/>
          </a:bodyPr>
          <a:lstStyle/>
          <a:p>
            <a:pPr algn="ctr">
              <a:spcAft>
                <a:spcPts val="800"/>
              </a:spcAft>
              <a:defRPr sz="1800" b="1">
                <a:solidFill>
                  <a:srgbClr val="FFFFFF"/>
                </a:solidFill>
                <a:latin typeface="Liberation Sans"/>
              </a:defRPr>
            </a:pPr>
            <a:r>
              <a:t>M2</a:t>
            </a:r>
          </a:p>
        </p:txBody>
      </p:sp>
      <p:sp>
        <p:nvSpPr>
          <p:cNvPr id="12" name="TextBox 11"/>
          <p:cNvSpPr txBox="1"/>
          <p:nvPr/>
        </p:nvSpPr>
        <p:spPr>
          <a:xfrm>
            <a:off x="2514600" y="2487168"/>
            <a:ext cx="1764792" cy="1143000"/>
          </a:xfrm>
          <a:prstGeom prst="rect">
            <a:avLst/>
          </a:prstGeom>
          <a:noFill/>
        </p:spPr>
        <p:txBody>
          <a:bodyPr wrap="square" lIns="18288" rIns="18288" tIns="13716" bIns="13716">
            <a:spAutoFit/>
          </a:bodyPr>
          <a:lstStyle/>
          <a:p>
            <a:pPr>
              <a:spcAft>
                <a:spcPts val="800"/>
              </a:spcAft>
              <a:defRPr sz="1800" b="0">
                <a:solidFill>
                  <a:srgbClr val="FFFFFF"/>
                </a:solidFill>
                <a:latin typeface="Liberation Sans"/>
              </a:defRPr>
            </a:pPr>
            <a:r>
              <a:t>Annotate</a:t>
            </a:r>
          </a:p>
          <a:p>
            <a:pPr>
              <a:spcAft>
                <a:spcPts val="800"/>
              </a:spcAft>
              <a:defRPr sz="1800" b="0">
                <a:solidFill>
                  <a:srgbClr val="FFFFFF"/>
                </a:solidFill>
                <a:latin typeface="Liberation Sans"/>
              </a:defRPr>
            </a:pPr>
            <a:r>
              <a:t>Checked pairs</a:t>
            </a:r>
          </a:p>
        </p:txBody>
      </p:sp>
      <p:sp>
        <p:nvSpPr>
          <p:cNvPr id="13" name="Rectangle 12"/>
          <p:cNvSpPr/>
          <p:nvPr/>
        </p:nvSpPr>
        <p:spPr>
          <a:xfrm>
            <a:off x="4434840" y="1783080"/>
            <a:ext cx="1719072" cy="457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856231"/>
            <a:ext cx="1719072" cy="274320"/>
          </a:xfrm>
          <a:prstGeom prst="rect">
            <a:avLst/>
          </a:prstGeom>
          <a:noFill/>
        </p:spPr>
        <p:txBody>
          <a:bodyPr wrap="square" lIns="18288" rIns="18288" tIns="13716" bIns="13716">
            <a:spAutoFit/>
          </a:bodyPr>
          <a:lstStyle/>
          <a:p>
            <a:pPr algn="ctr">
              <a:spcAft>
                <a:spcPts val="800"/>
              </a:spcAft>
              <a:defRPr sz="1800" b="1">
                <a:solidFill>
                  <a:srgbClr val="FFFFFF"/>
                </a:solidFill>
                <a:latin typeface="Liberation Sans"/>
              </a:defRPr>
            </a:pPr>
            <a:r>
              <a:t>M3</a:t>
            </a:r>
          </a:p>
        </p:txBody>
      </p:sp>
      <p:sp>
        <p:nvSpPr>
          <p:cNvPr id="15" name="TextBox 14"/>
          <p:cNvSpPr txBox="1"/>
          <p:nvPr/>
        </p:nvSpPr>
        <p:spPr>
          <a:xfrm>
            <a:off x="4434840" y="2487168"/>
            <a:ext cx="1764792" cy="1143000"/>
          </a:xfrm>
          <a:prstGeom prst="rect">
            <a:avLst/>
          </a:prstGeom>
          <a:noFill/>
        </p:spPr>
        <p:txBody>
          <a:bodyPr wrap="square" lIns="18288" rIns="18288" tIns="13716" bIns="13716">
            <a:spAutoFit/>
          </a:bodyPr>
          <a:lstStyle/>
          <a:p>
            <a:pPr>
              <a:spcAft>
                <a:spcPts val="800"/>
              </a:spcAft>
              <a:defRPr sz="1800" b="0">
                <a:solidFill>
                  <a:srgbClr val="FFFFFF"/>
                </a:solidFill>
                <a:latin typeface="Liberation Sans"/>
              </a:defRPr>
            </a:pPr>
            <a:r>
              <a:t>Calibrate</a:t>
            </a:r>
          </a:p>
          <a:p>
            <a:pPr>
              <a:spcAft>
                <a:spcPts val="800"/>
              </a:spcAft>
              <a:defRPr sz="1800" b="0">
                <a:solidFill>
                  <a:srgbClr val="FFFFFF"/>
                </a:solidFill>
                <a:latin typeface="Liberation Sans"/>
              </a:defRPr>
            </a:pPr>
            <a:r>
              <a:t>Judge gate</a:t>
            </a:r>
          </a:p>
        </p:txBody>
      </p:sp>
      <p:sp>
        <p:nvSpPr>
          <p:cNvPr id="16" name="Rectangle 15"/>
          <p:cNvSpPr/>
          <p:nvPr/>
        </p:nvSpPr>
        <p:spPr>
          <a:xfrm>
            <a:off x="6355080" y="1783080"/>
            <a:ext cx="1719072" cy="457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856231"/>
            <a:ext cx="1719072" cy="274320"/>
          </a:xfrm>
          <a:prstGeom prst="rect">
            <a:avLst/>
          </a:prstGeom>
          <a:noFill/>
        </p:spPr>
        <p:txBody>
          <a:bodyPr wrap="square" lIns="18288" rIns="18288" tIns="13716" bIns="13716">
            <a:spAutoFit/>
          </a:bodyPr>
          <a:lstStyle/>
          <a:p>
            <a:pPr algn="ctr">
              <a:spcAft>
                <a:spcPts val="800"/>
              </a:spcAft>
              <a:defRPr sz="1800" b="1">
                <a:solidFill>
                  <a:srgbClr val="FFFFFF"/>
                </a:solidFill>
                <a:latin typeface="Liberation Sans"/>
              </a:defRPr>
            </a:pPr>
            <a:r>
              <a:t>M4</a:t>
            </a:r>
          </a:p>
        </p:txBody>
      </p:sp>
      <p:sp>
        <p:nvSpPr>
          <p:cNvPr id="18" name="TextBox 17"/>
          <p:cNvSpPr txBox="1"/>
          <p:nvPr/>
        </p:nvSpPr>
        <p:spPr>
          <a:xfrm>
            <a:off x="6355080" y="2487168"/>
            <a:ext cx="1764792" cy="1143000"/>
          </a:xfrm>
          <a:prstGeom prst="rect">
            <a:avLst/>
          </a:prstGeom>
          <a:noFill/>
        </p:spPr>
        <p:txBody>
          <a:bodyPr wrap="square" lIns="18288" rIns="18288" tIns="13716" bIns="13716">
            <a:spAutoFit/>
          </a:bodyPr>
          <a:lstStyle/>
          <a:p>
            <a:pPr>
              <a:spcAft>
                <a:spcPts val="800"/>
              </a:spcAft>
              <a:defRPr sz="1800" b="0">
                <a:solidFill>
                  <a:srgbClr val="FFFFFF"/>
                </a:solidFill>
                <a:latin typeface="Liberation Sans"/>
              </a:defRPr>
            </a:pPr>
            <a:r>
              <a:t>Train</a:t>
            </a:r>
          </a:p>
          <a:p>
            <a:pPr>
              <a:spcAft>
                <a:spcPts val="800"/>
              </a:spcAft>
              <a:defRPr sz="1800" b="0">
                <a:solidFill>
                  <a:srgbClr val="FFFFFF"/>
                </a:solidFill>
                <a:latin typeface="Liberation Sans"/>
              </a:defRPr>
            </a:pPr>
            <a:r>
              <a:t>Three seeds</a:t>
            </a:r>
          </a:p>
        </p:txBody>
      </p:sp>
      <p:sp>
        <p:nvSpPr>
          <p:cNvPr id="19" name="Rectangle 18"/>
          <p:cNvSpPr/>
          <p:nvPr/>
        </p:nvSpPr>
        <p:spPr>
          <a:xfrm>
            <a:off x="8275320" y="1783080"/>
            <a:ext cx="1719072" cy="457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856231"/>
            <a:ext cx="1719072" cy="274320"/>
          </a:xfrm>
          <a:prstGeom prst="rect">
            <a:avLst/>
          </a:prstGeom>
          <a:noFill/>
        </p:spPr>
        <p:txBody>
          <a:bodyPr wrap="square" lIns="18288" rIns="18288" tIns="13716" bIns="13716">
            <a:spAutoFit/>
          </a:bodyPr>
          <a:lstStyle/>
          <a:p>
            <a:pPr algn="ctr">
              <a:spcAft>
                <a:spcPts val="800"/>
              </a:spcAft>
              <a:defRPr sz="1800" b="1">
                <a:solidFill>
                  <a:srgbClr val="FFFFFF"/>
                </a:solidFill>
                <a:latin typeface="Liberation Sans"/>
              </a:defRPr>
            </a:pPr>
            <a:r>
              <a:t>M5</a:t>
            </a:r>
          </a:p>
        </p:txBody>
      </p:sp>
      <p:sp>
        <p:nvSpPr>
          <p:cNvPr id="21" name="TextBox 20"/>
          <p:cNvSpPr txBox="1"/>
          <p:nvPr/>
        </p:nvSpPr>
        <p:spPr>
          <a:xfrm>
            <a:off x="8275320" y="2487168"/>
            <a:ext cx="1764792" cy="1143000"/>
          </a:xfrm>
          <a:prstGeom prst="rect">
            <a:avLst/>
          </a:prstGeom>
          <a:noFill/>
        </p:spPr>
        <p:txBody>
          <a:bodyPr wrap="square" lIns="18288" rIns="18288" tIns="13716" bIns="13716">
            <a:spAutoFit/>
          </a:bodyPr>
          <a:lstStyle/>
          <a:p>
            <a:pPr>
              <a:spcAft>
                <a:spcPts val="800"/>
              </a:spcAft>
              <a:defRPr sz="1800" b="0">
                <a:solidFill>
                  <a:srgbClr val="FFFFFF"/>
                </a:solidFill>
                <a:latin typeface="Liberation Sans"/>
              </a:defRPr>
            </a:pPr>
            <a:r>
              <a:t>Controls</a:t>
            </a:r>
          </a:p>
          <a:p>
            <a:pPr>
              <a:spcAft>
                <a:spcPts val="800"/>
              </a:spcAft>
              <a:defRPr sz="1800" b="0">
                <a:solidFill>
                  <a:srgbClr val="FFFFFF"/>
                </a:solidFill>
                <a:latin typeface="Liberation Sans"/>
              </a:defRPr>
            </a:pPr>
            <a:r>
              <a:t>Frozen tests</a:t>
            </a:r>
          </a:p>
        </p:txBody>
      </p:sp>
      <p:sp>
        <p:nvSpPr>
          <p:cNvPr id="22" name="Rectangle 21"/>
          <p:cNvSpPr/>
          <p:nvPr/>
        </p:nvSpPr>
        <p:spPr>
          <a:xfrm>
            <a:off x="10195560" y="1783080"/>
            <a:ext cx="1719072" cy="4572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95560" y="1856231"/>
            <a:ext cx="1719072" cy="274320"/>
          </a:xfrm>
          <a:prstGeom prst="rect">
            <a:avLst/>
          </a:prstGeom>
          <a:noFill/>
        </p:spPr>
        <p:txBody>
          <a:bodyPr wrap="square" lIns="18288" rIns="18288" tIns="13716" bIns="13716">
            <a:spAutoFit/>
          </a:bodyPr>
          <a:lstStyle/>
          <a:p>
            <a:pPr algn="ctr">
              <a:spcAft>
                <a:spcPts val="800"/>
              </a:spcAft>
              <a:defRPr sz="1800" b="1">
                <a:solidFill>
                  <a:srgbClr val="FFFFFF"/>
                </a:solidFill>
                <a:latin typeface="Liberation Sans"/>
              </a:defRPr>
            </a:pPr>
            <a:r>
              <a:t>M6</a:t>
            </a:r>
          </a:p>
        </p:txBody>
      </p:sp>
      <p:sp>
        <p:nvSpPr>
          <p:cNvPr id="24" name="TextBox 23"/>
          <p:cNvSpPr txBox="1"/>
          <p:nvPr/>
        </p:nvSpPr>
        <p:spPr>
          <a:xfrm>
            <a:off x="10195560" y="2487168"/>
            <a:ext cx="1764792" cy="1143000"/>
          </a:xfrm>
          <a:prstGeom prst="rect">
            <a:avLst/>
          </a:prstGeom>
          <a:noFill/>
        </p:spPr>
        <p:txBody>
          <a:bodyPr wrap="square" lIns="18288" rIns="18288" tIns="13716" bIns="13716">
            <a:spAutoFit/>
          </a:bodyPr>
          <a:lstStyle/>
          <a:p>
            <a:pPr>
              <a:spcAft>
                <a:spcPts val="800"/>
              </a:spcAft>
              <a:defRPr sz="1800" b="0">
                <a:solidFill>
                  <a:srgbClr val="FFFFFF"/>
                </a:solidFill>
                <a:latin typeface="Liberation Sans"/>
              </a:defRPr>
            </a:pPr>
            <a:r>
              <a:t>Human audit</a:t>
            </a:r>
          </a:p>
          <a:p>
            <a:pPr>
              <a:spcAft>
                <a:spcPts val="800"/>
              </a:spcAft>
              <a:defRPr sz="1800" b="0">
                <a:solidFill>
                  <a:srgbClr val="FFFFFF"/>
                </a:solidFill>
                <a:latin typeface="Liberation Sans"/>
              </a:defRPr>
            </a:pPr>
            <a:r>
              <a:t>Release</a:t>
            </a:r>
          </a:p>
        </p:txBody>
      </p:sp>
      <p:sp>
        <p:nvSpPr>
          <p:cNvPr id="25" name="TextBox 24"/>
          <p:cNvSpPr txBox="1"/>
          <p:nvPr/>
        </p:nvSpPr>
        <p:spPr>
          <a:xfrm>
            <a:off x="685800" y="4069080"/>
            <a:ext cx="10789920" cy="457200"/>
          </a:xfrm>
          <a:prstGeom prst="rect">
            <a:avLst/>
          </a:prstGeom>
          <a:noFill/>
        </p:spPr>
        <p:txBody>
          <a:bodyPr wrap="square" lIns="18288" rIns="18288" tIns="13716" bIns="13716">
            <a:spAutoFit/>
          </a:bodyPr>
          <a:lstStyle/>
          <a:p>
            <a:pPr>
              <a:spcAft>
                <a:spcPts val="800"/>
              </a:spcAft>
              <a:defRPr sz="2400" b="1">
                <a:solidFill>
                  <a:srgbClr val="82D5D5"/>
                </a:solidFill>
                <a:latin typeface="Liberation Sans"/>
              </a:defRPr>
            </a:pPr>
            <a:r>
              <a:t>Judge gate: false acceptance ≤10% · sufficient recall ≥70%</a:t>
            </a:r>
          </a:p>
        </p:txBody>
      </p:sp>
      <p:sp>
        <p:nvSpPr>
          <p:cNvPr id="26" name="TextBox 25"/>
          <p:cNvSpPr txBox="1"/>
          <p:nvPr/>
        </p:nvSpPr>
        <p:spPr>
          <a:xfrm>
            <a:off x="685800" y="4919472"/>
            <a:ext cx="10789920" cy="502920"/>
          </a:xfrm>
          <a:prstGeom prst="rect">
            <a:avLst/>
          </a:prstGeom>
          <a:noFill/>
        </p:spPr>
        <p:txBody>
          <a:bodyPr wrap="square" lIns="18288" rIns="18288" tIns="13716" bIns="13716">
            <a:spAutoFit/>
          </a:bodyPr>
          <a:lstStyle/>
          <a:p>
            <a:pPr>
              <a:spcAft>
                <a:spcPts val="800"/>
              </a:spcAft>
              <a:defRPr sz="2500" b="0">
                <a:solidFill>
                  <a:srgbClr val="FFFFFF"/>
                </a:solidFill>
                <a:latin typeface="Liberation Sans"/>
              </a:defRPr>
            </a:pPr>
            <a:r>
              <a:t>Success: higher retention and accuracy at matched resources</a:t>
            </a:r>
          </a:p>
        </p:txBody>
      </p:sp>
      <p:sp>
        <p:nvSpPr>
          <p:cNvPr id="27" name="TextBox 26"/>
          <p:cNvSpPr txBox="1"/>
          <p:nvPr/>
        </p:nvSpPr>
        <p:spPr>
          <a:xfrm>
            <a:off x="685800" y="5715000"/>
            <a:ext cx="10789920" cy="411480"/>
          </a:xfrm>
          <a:prstGeom prst="rect">
            <a:avLst/>
          </a:prstGeom>
          <a:noFill/>
        </p:spPr>
        <p:txBody>
          <a:bodyPr wrap="square" lIns="18288" rIns="18288" tIns="13716" bIns="13716">
            <a:spAutoFit/>
          </a:bodyPr>
          <a:lstStyle/>
          <a:p>
            <a:pPr>
              <a:spcAft>
                <a:spcPts val="800"/>
              </a:spcAft>
              <a:defRPr sz="2500" b="1">
                <a:solidFill>
                  <a:srgbClr val="FFFFFF"/>
                </a:solidFill>
                <a:latin typeface="Liberation Sans"/>
              </a:defRPr>
            </a:pPr>
            <a:r>
              <a:t>Null results and failure cases are deliverables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SketchThinker-R1: Towards Efficient Sketch-Style Reasoning in Large Multimodal Models</dc:title>
  <dc:subject>15-minute paper analysis and research plan pitch</dc:subject>
  <dc:creator>Presentation group — editable member table on slide 1</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